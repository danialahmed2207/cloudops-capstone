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ich bin Danial Ahmed. Ich stelle euch heute mein Abschlussprojekt vor: das CloudOps Capstone. Dahinter steckt eine kleine Web-App – aber der eigentliche Star ist die komplett automatisierte DevOps-Pipeline: Vom git push bis zum fertigen Deployment auf einem AWS-Server läuft alles ohne Handarbeit.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App selbst ist eine einfache Aufgaben-Verwaltung – Tickets anlegen, Status ändern, fertig. Ich habe sie bewusst klein gehalten. Denn mein Ziel war nicht die hundertste To-do-App, sondern das, was im Berufsalltag zählt: dass Software automatisch getestet, gebaut und ausgerollt wird. Genau das macht ein DevOps-Engineer jeden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sieht der Weg des Codes aus. Erstens: Ich pushe eine Änderung auf den main-Branch. Zweitens: GitHub Actions startet automatisch und führt meine zehn pytest-Tests aus. Drittens: Nur wenn alle Tests grün sind, werden die Docker-Images gebaut – das nennt man Test-Gate. Und viertens wird die Staging-Umgebung auf AWS aktualisiert. Über jeden Lauf informiert mich Slack – Start, Erfolg oder Fehler. Für ein Produktions-Release setze ich einfach ein Versions-Tag wie v1.0.0 – das löst die Production-Pipeline 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 zum Werkzeugkasten: Das Frontend ist React mit Vite, das Backend FastAPI in Python mit einer SQLite-Datenbank, die später gegen PostgreSQL auf AWS getauscht werden kann. Beides läuft in Docker-Containern. Die komplette Infrastruktur – Netzwerk, Server, Speicher – ist mit Terraform als Code beschrieben. Die Pipeline läuft über GitHub Actions, und alle Zugangsdaten liegen verschlüsselt in GitHub Secrets – niemals im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Qualität kommt zuerst. Zehn automatische Tests prüfen jeden API-Endpunkt – auch die Fehlerfälle, zum Beispiel wenn ein Titel fehlt oder eine ID nicht existiert. In der Pipeline dauert der komplette Testlauf nur zwölf Sekunden. Und die entscheidende Zeile in meiner Pipeline heißt: needs test. Das bedeutet: Der Deploy-Job darf erst starten, wenn der Test-Job erfolgreich war. Kaputter Code kommt so nie auf den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App wird in Docker-Container verpackt – nach dem Multi-Stage-Prinzip. Stufe eins baut die React-App mit Node. In Stufe zwei landen nur die fertigen Dateien plus der Nginx-Webserver. Das heißt: Im Produktions-Image ist kein Node und kein Quellcode – es ist klein und sicher. Das Backend läuft zusätzlich ohne Root-Rechte. Und mit einem einzigen Befehl, docker compose up, startet der komplette Stack – bei mir lokal genauso wie später auf dem AWS-Server.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gesamte AWS-Infrastruktur existiert als Code – vier Terraform-Dateien. Sie beschreiben ein eigenes Netzwerk, die VPC, darin ein öffentliches Subnetz mit Internetzugang, und darin die EC2-Instanz – eine t3.micro im kostenlosen Free Tier. Die Firewall, also die Security Group, öffnet nur Port 80 für die Web-App und SSH für Deployments. Der Server installiert sich beim ersten Start sogar selbst Docker. Wichtig: Terraforms Gedächtnis, der State, liegt zentral in einem S3-Bucket. Und wenn ich nicht übe, räume ich mit terraform destroy alles ab – so bleibt das Projekt praktisch kostenlos.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Ganz ehrlich: Nicht alles lief glatt – und genau daraus habe ich am meisten gelernt. Mein Projekt liegt auf einer externen Festplatte, deren Ordnername einen Doppelpunkt enthält – das hat Python, npm und Vite gebrochen, weil der Doppelpunkt unter Unix Pfade trennt. Dann wurde die SQLite-Datenbank scheinbar zufällig schreibgeschützt – die Ursache: Auf exFAT-Platten verfallen offene Datei-Verbindungen nach etwa zehn Sekunden. Und der Docker-Build stolperte über versteckte macOS-Dateien. Jedes Problem habe ich gleich behandelt: systematisch eingrenzen, einen Minimal-Test bauen, die Lösung sauber dokumentieren. Genau diese Detektivarbeit ist DevOps-Alltag.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 steht das Projekt heute? Fertig sind das Backend mit zehn grünen Tests, das React-Frontend, der komplette Docker-Stack und das GitHub-Repository mit laufender Test-Pipeline – der Test-Job läuft bereits bei jedem Push. Als Nächstes schalte ich mit Terraform die Staging-EC2 live, baue das echte Docker-Deployment in den Deploy-Job ein und aktiviere die Production-Pipeline über Versions-Tags. Der gesamte Fortschritt ist öffentlich auf GitHub nachvollziehbar – jeder Commit, jeder Pipeline-Lauf.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Vielen Dank für eure Aufmerksamkeit! Wenn ihr mögt, zeige ich die Pipeline gerne live – ein git push genügt, und ihr seht die Tests und das Deployment in Echtzeit. Ich freue mich auf eure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2011680"/>
            <a:ext cx="5486400" cy="5486400"/>
          </a:xfrm>
          <a:prstGeom prst="ellipse">
            <a:avLst/>
          </a:prstGeom>
          <a:solidFill>
            <a:srgbClr val="27306E"/>
          </a:solidFill>
          <a:ln/>
        </p:spPr>
      </p:sp>
      <p:sp>
        <p:nvSpPr>
          <p:cNvPr id="3" name="Shape 1"/>
          <p:cNvSpPr/>
          <p:nvPr/>
        </p:nvSpPr>
        <p:spPr>
          <a:xfrm>
            <a:off x="-1645920" y="4754880"/>
            <a:ext cx="4114800" cy="4114800"/>
          </a:xfrm>
          <a:prstGeom prst="ellipse">
            <a:avLst/>
          </a:prstGeom>
          <a:solidFill>
            <a:srgbClr val="27306E"/>
          </a:solidFill>
          <a:ln/>
        </p:spPr>
      </p:sp>
      <p:sp>
        <p:nvSpPr>
          <p:cNvPr id="4" name="Shape 2"/>
          <p:cNvSpPr/>
          <p:nvPr/>
        </p:nvSpPr>
        <p:spPr>
          <a:xfrm>
            <a:off x="822960" y="960120"/>
            <a:ext cx="914400" cy="914400"/>
          </a:xfrm>
          <a:prstGeom prst="ellipse">
            <a:avLst/>
          </a:prstGeom>
          <a:solidFill>
            <a:srgbClr val="4F6DF5"/>
          </a:solidFill>
          <a:ln/>
        </p:spPr>
      </p:sp>
      <p:pic>
        <p:nvPicPr>
          <p:cNvPr id="5" name="Image 0" descr="preencoded.png">    </p:cNvPr>
          <p:cNvPicPr>
            <a:picLocks noChangeAspect="1"/>
          </p:cNvPicPr>
          <p:nvPr/>
        </p:nvPicPr>
        <p:blipFill>
          <a:blip r:embed="rId1"/>
          <a:stretch>
            <a:fillRect/>
          </a:stretch>
        </p:blipFill>
        <p:spPr>
          <a:xfrm>
            <a:off x="1060704" y="1197864"/>
            <a:ext cx="438912" cy="438912"/>
          </a:xfrm>
          <a:prstGeom prst="rect">
            <a:avLst/>
          </a:prstGeom>
        </p:spPr>
      </p:pic>
      <p:sp>
        <p:nvSpPr>
          <p:cNvPr id="6" name="Text 3"/>
          <p:cNvSpPr/>
          <p:nvPr/>
        </p:nvSpPr>
        <p:spPr>
          <a:xfrm>
            <a:off x="777240" y="196596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CloudOps Capstone</a:t>
            </a:r>
            <a:endParaRPr lang="en-US" sz="5400" dirty="0"/>
          </a:p>
        </p:txBody>
      </p:sp>
      <p:sp>
        <p:nvSpPr>
          <p:cNvPr id="7" name="Text 4"/>
          <p:cNvSpPr/>
          <p:nvPr/>
        </p:nvSpPr>
        <p:spPr>
          <a:xfrm>
            <a:off x="777240" y="3063240"/>
            <a:ext cx="9601200" cy="822960"/>
          </a:xfrm>
          <a:prstGeom prst="rect">
            <a:avLst/>
          </a:prstGeom>
          <a:noFill/>
          <a:ln/>
        </p:spPr>
        <p:txBody>
          <a:bodyPr wrap="square" lIns="0" tIns="0" rIns="0" bIns="0" rtlCol="0" anchor="ctr"/>
          <a:lstStyle/>
          <a:p>
            <a:pPr indent="0" marL="0">
              <a:buNone/>
            </a:pPr>
            <a:r>
              <a:rPr lang="en-US" sz="2200" dirty="0">
                <a:solidFill>
                  <a:srgbClr val="CADCFC"/>
                </a:solidFill>
                <a:latin typeface="Arial" pitchFamily="34" charset="0"/>
                <a:ea typeface="Arial" pitchFamily="34" charset="-122"/>
                <a:cs typeface="Arial" pitchFamily="34" charset="-120"/>
              </a:rPr>
              <a:t>Eine komplette CI/CD-Pipeline auf AWS – vom git push bis zum Live-Server</a:t>
            </a:r>
            <a:endParaRPr lang="en-US" sz="2200" dirty="0"/>
          </a:p>
        </p:txBody>
      </p:sp>
      <p:sp>
        <p:nvSpPr>
          <p:cNvPr id="8" name="Text 5"/>
          <p:cNvSpPr/>
          <p:nvPr/>
        </p:nvSpPr>
        <p:spPr>
          <a:xfrm>
            <a:off x="777240" y="5806440"/>
            <a:ext cx="100584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Danial Ahmed</a:t>
            </a:r>
            <a:pPr indent="0" marL="0">
              <a:buNone/>
            </a:pPr>
            <a:r>
              <a:rPr lang="en-US" sz="1500" dirty="0">
                <a:solidFill>
                  <a:srgbClr val="CADCFC"/>
                </a:solidFill>
                <a:latin typeface="Arial" pitchFamily="34" charset="0"/>
                <a:ea typeface="Arial" pitchFamily="34" charset="-122"/>
                <a:cs typeface="Arial" pitchFamily="34" charset="-120"/>
              </a:rPr>
              <a:t>   ·   Modul-4-Abschlussprojekt   ·   Syntax Institut   ·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Die Idee: kleine App, große Automatisierung</a:t>
            </a:r>
            <a:endParaRPr lang="en-US" sz="3400" dirty="0"/>
          </a:p>
        </p:txBody>
      </p:sp>
      <p:sp>
        <p:nvSpPr>
          <p:cNvPr id="3" name="Shape 1"/>
          <p:cNvSpPr/>
          <p:nvPr/>
        </p:nvSpPr>
        <p:spPr>
          <a:xfrm>
            <a:off x="777240" y="1600200"/>
            <a:ext cx="5120640" cy="3657600"/>
          </a:xfrm>
          <a:prstGeom prst="roundRect">
            <a:avLst>
              <a:gd name="adj" fmla="val 3000"/>
            </a:avLst>
          </a:prstGeom>
          <a:solidFill>
            <a:srgbClr val="F4F6FD"/>
          </a:solidFill>
          <a:ln/>
        </p:spPr>
      </p:sp>
      <p:sp>
        <p:nvSpPr>
          <p:cNvPr id="4" name="Shape 2"/>
          <p:cNvSpPr/>
          <p:nvPr/>
        </p:nvSpPr>
        <p:spPr>
          <a:xfrm>
            <a:off x="1143000" y="1965960"/>
            <a:ext cx="685800" cy="685800"/>
          </a:xfrm>
          <a:prstGeom prst="ellipse">
            <a:avLst/>
          </a:prstGeom>
          <a:solidFill>
            <a:srgbClr val="4F6DF5"/>
          </a:solidFill>
          <a:ln/>
        </p:spPr>
      </p:sp>
      <p:pic>
        <p:nvPicPr>
          <p:cNvPr id="5" name="Image 0" descr="preencoded.png">    </p:cNvPr>
          <p:cNvPicPr>
            <a:picLocks noChangeAspect="1"/>
          </p:cNvPicPr>
          <p:nvPr/>
        </p:nvPicPr>
        <p:blipFill>
          <a:blip r:embed="rId1"/>
          <a:stretch>
            <a:fillRect/>
          </a:stretch>
        </p:blipFill>
        <p:spPr>
          <a:xfrm>
            <a:off x="1321308" y="2144268"/>
            <a:ext cx="329184" cy="329184"/>
          </a:xfrm>
          <a:prstGeom prst="rect">
            <a:avLst/>
          </a:prstGeom>
        </p:spPr>
      </p:pic>
      <p:sp>
        <p:nvSpPr>
          <p:cNvPr id="6" name="Text 3"/>
          <p:cNvSpPr/>
          <p:nvPr/>
        </p:nvSpPr>
        <p:spPr>
          <a:xfrm>
            <a:off x="2011680" y="2011680"/>
            <a:ext cx="3474720" cy="548640"/>
          </a:xfrm>
          <a:prstGeom prst="rect">
            <a:avLst/>
          </a:prstGeom>
          <a:noFill/>
          <a:ln/>
        </p:spPr>
        <p:txBody>
          <a:bodyPr wrap="square" lIns="0" tIns="0" rIns="0" bIns="0" rtlCol="0" anchor="ctr"/>
          <a:lstStyle/>
          <a:p>
            <a:pPr indent="0" marL="0">
              <a:buNone/>
            </a:pPr>
            <a:r>
              <a:rPr lang="en-US" sz="2000" b="1" dirty="0">
                <a:solidFill>
                  <a:srgbClr val="222838"/>
                </a:solidFill>
                <a:latin typeface="Arial" pitchFamily="34" charset="0"/>
                <a:ea typeface="Arial" pitchFamily="34" charset="-122"/>
                <a:cs typeface="Arial" pitchFamily="34" charset="-120"/>
              </a:rPr>
              <a:t>Die App</a:t>
            </a:r>
            <a:endParaRPr lang="en-US" sz="2000" dirty="0"/>
          </a:p>
        </p:txBody>
      </p:sp>
      <p:sp>
        <p:nvSpPr>
          <p:cNvPr id="7" name="Text 4"/>
          <p:cNvSpPr/>
          <p:nvPr/>
        </p:nvSpPr>
        <p:spPr>
          <a:xfrm>
            <a:off x="1143000" y="2880360"/>
            <a:ext cx="4480560" cy="21031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5A6172"/>
                </a:solidFill>
                <a:latin typeface="Arial" pitchFamily="34" charset="0"/>
                <a:ea typeface="Arial" pitchFamily="34" charset="-122"/>
                <a:cs typeface="Arial" pitchFamily="34" charset="-120"/>
              </a:rPr>
              <a:t>Aufgaben- &amp; Ticket-Verwaltung</a:t>
            </a:r>
            <a:endParaRPr lang="en-US" sz="1500" dirty="0"/>
          </a:p>
          <a:p>
            <a:pPr marL="342900" indent="-342900">
              <a:spcAft>
                <a:spcPts val="800"/>
              </a:spcAft>
              <a:buSzPct val="100000"/>
              <a:buChar char="•"/>
            </a:pPr>
            <a:r>
              <a:rPr lang="en-US" sz="1500" dirty="0">
                <a:solidFill>
                  <a:srgbClr val="5A6172"/>
                </a:solidFill>
                <a:latin typeface="Arial" pitchFamily="34" charset="0"/>
                <a:ea typeface="Arial" pitchFamily="34" charset="-122"/>
                <a:cs typeface="Arial" pitchFamily="34" charset="-120"/>
              </a:rPr>
              <a:t>React-Oberfläche, FastAPI-Backend</a:t>
            </a:r>
            <a:endParaRPr lang="en-US" sz="1500" dirty="0"/>
          </a:p>
          <a:p>
            <a:pPr marL="342900" indent="-342900">
              <a:spcAft>
                <a:spcPts val="800"/>
              </a:spcAft>
              <a:buSzPct val="100000"/>
              <a:buChar char="•"/>
            </a:pPr>
            <a:r>
              <a:rPr lang="en-US" sz="1500" dirty="0">
                <a:solidFill>
                  <a:srgbClr val="5A6172"/>
                </a:solidFill>
                <a:latin typeface="Arial" pitchFamily="34" charset="0"/>
                <a:ea typeface="Arial" pitchFamily="34" charset="-122"/>
                <a:cs typeface="Arial" pitchFamily="34" charset="-120"/>
              </a:rPr>
              <a:t>Bewusst einfach gehalten</a:t>
            </a:r>
            <a:endParaRPr lang="en-US" sz="1500" dirty="0"/>
          </a:p>
        </p:txBody>
      </p:sp>
      <p:sp>
        <p:nvSpPr>
          <p:cNvPr id="8" name="Shape 5"/>
          <p:cNvSpPr/>
          <p:nvPr/>
        </p:nvSpPr>
        <p:spPr>
          <a:xfrm>
            <a:off x="6263640" y="1600200"/>
            <a:ext cx="5120640" cy="3657600"/>
          </a:xfrm>
          <a:prstGeom prst="roundRect">
            <a:avLst>
              <a:gd name="adj" fmla="val 3000"/>
            </a:avLst>
          </a:prstGeom>
          <a:solidFill>
            <a:srgbClr val="1E2761"/>
          </a:solidFill>
          <a:ln/>
        </p:spPr>
      </p:sp>
      <p:sp>
        <p:nvSpPr>
          <p:cNvPr id="9" name="Shape 6"/>
          <p:cNvSpPr/>
          <p:nvPr/>
        </p:nvSpPr>
        <p:spPr>
          <a:xfrm>
            <a:off x="6629400" y="1965960"/>
            <a:ext cx="685800" cy="685800"/>
          </a:xfrm>
          <a:prstGeom prst="ellipse">
            <a:avLst/>
          </a:prstGeom>
          <a:solidFill>
            <a:srgbClr val="4F6DF5"/>
          </a:solidFill>
          <a:ln/>
        </p:spPr>
      </p:sp>
      <p:pic>
        <p:nvPicPr>
          <p:cNvPr id="10" name="Image 1" descr="preencoded.png">    </p:cNvPr>
          <p:cNvPicPr>
            <a:picLocks noChangeAspect="1"/>
          </p:cNvPicPr>
          <p:nvPr/>
        </p:nvPicPr>
        <p:blipFill>
          <a:blip r:embed="rId2"/>
          <a:stretch>
            <a:fillRect/>
          </a:stretch>
        </p:blipFill>
        <p:spPr>
          <a:xfrm>
            <a:off x="6807708" y="2144268"/>
            <a:ext cx="329184" cy="329184"/>
          </a:xfrm>
          <a:prstGeom prst="rect">
            <a:avLst/>
          </a:prstGeom>
        </p:spPr>
      </p:pic>
      <p:sp>
        <p:nvSpPr>
          <p:cNvPr id="11" name="Text 7"/>
          <p:cNvSpPr/>
          <p:nvPr/>
        </p:nvSpPr>
        <p:spPr>
          <a:xfrm>
            <a:off x="7498080" y="2011680"/>
            <a:ext cx="3749040" cy="54864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Der eigentliche Fokus</a:t>
            </a:r>
            <a:endParaRPr lang="en-US" sz="2000" dirty="0"/>
          </a:p>
        </p:txBody>
      </p:sp>
      <p:sp>
        <p:nvSpPr>
          <p:cNvPr id="12" name="Text 8"/>
          <p:cNvSpPr/>
          <p:nvPr/>
        </p:nvSpPr>
        <p:spPr>
          <a:xfrm>
            <a:off x="6629400" y="2880360"/>
            <a:ext cx="4480560" cy="21031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CADCFC"/>
                </a:solidFill>
                <a:latin typeface="Arial" pitchFamily="34" charset="0"/>
                <a:ea typeface="Arial" pitchFamily="34" charset="-122"/>
                <a:cs typeface="Arial" pitchFamily="34" charset="-120"/>
              </a:rPr>
              <a:t>Automatisch testen bei jedem Push</a:t>
            </a:r>
            <a:endParaRPr lang="en-US" sz="1500" dirty="0"/>
          </a:p>
          <a:p>
            <a:pPr marL="342900" indent="-342900">
              <a:spcAft>
                <a:spcPts val="800"/>
              </a:spcAft>
              <a:buSzPct val="100000"/>
              <a:buChar char="•"/>
            </a:pPr>
            <a:r>
              <a:rPr lang="en-US" sz="1500" dirty="0">
                <a:solidFill>
                  <a:srgbClr val="CADCFC"/>
                </a:solidFill>
                <a:latin typeface="Arial" pitchFamily="34" charset="0"/>
                <a:ea typeface="Arial" pitchFamily="34" charset="-122"/>
                <a:cs typeface="Arial" pitchFamily="34" charset="-120"/>
              </a:rPr>
              <a:t>Automatisch bauen &amp; ausrollen</a:t>
            </a:r>
            <a:endParaRPr lang="en-US" sz="1500" dirty="0"/>
          </a:p>
          <a:p>
            <a:pPr marL="342900" indent="-342900">
              <a:spcAft>
                <a:spcPts val="800"/>
              </a:spcAft>
              <a:buSzPct val="100000"/>
              <a:buChar char="•"/>
            </a:pPr>
            <a:r>
              <a:rPr lang="en-US" sz="1500" dirty="0">
                <a:solidFill>
                  <a:srgbClr val="CADCFC"/>
                </a:solidFill>
                <a:latin typeface="Arial" pitchFamily="34" charset="0"/>
                <a:ea typeface="Arial" pitchFamily="34" charset="-122"/>
                <a:cs typeface="Arial" pitchFamily="34" charset="-120"/>
              </a:rPr>
              <a:t>Infrastruktur als Code (Terraform)</a:t>
            </a:r>
            <a:endParaRPr lang="en-US" sz="1500" dirty="0"/>
          </a:p>
        </p:txBody>
      </p:sp>
      <p:sp>
        <p:nvSpPr>
          <p:cNvPr id="13" name="Text 9"/>
          <p:cNvSpPr/>
          <p:nvPr/>
        </p:nvSpPr>
        <p:spPr>
          <a:xfrm>
            <a:off x="777240" y="5623560"/>
            <a:ext cx="10607040" cy="548640"/>
          </a:xfrm>
          <a:prstGeom prst="rect">
            <a:avLst/>
          </a:prstGeom>
          <a:noFill/>
          <a:ln/>
        </p:spPr>
        <p:txBody>
          <a:bodyPr wrap="square" lIns="0" tIns="0" rIns="0" bIns="0" rtlCol="0" anchor="ctr"/>
          <a:lstStyle/>
          <a:p>
            <a:pPr indent="0" marL="0">
              <a:buNone/>
            </a:pPr>
            <a:r>
              <a:rPr lang="en-US" sz="1600" i="1" dirty="0">
                <a:solidFill>
                  <a:srgbClr val="4F6DF5"/>
                </a:solidFill>
                <a:latin typeface="Arial" pitchFamily="34" charset="0"/>
                <a:ea typeface="Arial" pitchFamily="34" charset="-122"/>
                <a:cs typeface="Arial" pitchFamily="34" charset="-120"/>
              </a:rPr>
              <a:t>Warum? Genau diese Automatisierung ist der Alltag im Cloud- und DevOps-Beruf.</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So fließt der Code zum Server</a:t>
            </a:r>
            <a:endParaRPr lang="en-US" sz="3400" dirty="0"/>
          </a:p>
        </p:txBody>
      </p:sp>
      <p:sp>
        <p:nvSpPr>
          <p:cNvPr id="3" name="Shape 1"/>
          <p:cNvSpPr/>
          <p:nvPr/>
        </p:nvSpPr>
        <p:spPr>
          <a:xfrm>
            <a:off x="777240" y="1737360"/>
            <a:ext cx="2468880" cy="2651760"/>
          </a:xfrm>
          <a:prstGeom prst="roundRect">
            <a:avLst>
              <a:gd name="adj" fmla="val 4444"/>
            </a:avLst>
          </a:prstGeom>
          <a:solidFill>
            <a:srgbClr val="F4F6FD"/>
          </a:solidFill>
          <a:ln/>
        </p:spPr>
      </p:sp>
      <p:sp>
        <p:nvSpPr>
          <p:cNvPr id="4" name="Shape 2"/>
          <p:cNvSpPr/>
          <p:nvPr/>
        </p:nvSpPr>
        <p:spPr>
          <a:xfrm>
            <a:off x="1600200" y="2011680"/>
            <a:ext cx="822960" cy="822960"/>
          </a:xfrm>
          <a:prstGeom prst="ellipse">
            <a:avLst/>
          </a:prstGeom>
          <a:solidFill>
            <a:srgbClr val="1E2761"/>
          </a:solidFill>
          <a:ln/>
        </p:spPr>
      </p:sp>
      <p:pic>
        <p:nvPicPr>
          <p:cNvPr id="5" name="Image 0" descr="preencoded.png">    </p:cNvPr>
          <p:cNvPicPr>
            <a:picLocks noChangeAspect="1"/>
          </p:cNvPicPr>
          <p:nvPr/>
        </p:nvPicPr>
        <p:blipFill>
          <a:blip r:embed="rId1"/>
          <a:stretch>
            <a:fillRect/>
          </a:stretch>
        </p:blipFill>
        <p:spPr>
          <a:xfrm>
            <a:off x="1814170" y="2225650"/>
            <a:ext cx="395021" cy="395021"/>
          </a:xfrm>
          <a:prstGeom prst="rect">
            <a:avLst/>
          </a:prstGeom>
        </p:spPr>
      </p:pic>
      <p:sp>
        <p:nvSpPr>
          <p:cNvPr id="6" name="Text 3"/>
          <p:cNvSpPr/>
          <p:nvPr/>
        </p:nvSpPr>
        <p:spPr>
          <a:xfrm>
            <a:off x="914400" y="2971800"/>
            <a:ext cx="2194560" cy="411480"/>
          </a:xfrm>
          <a:prstGeom prst="rect">
            <a:avLst/>
          </a:prstGeom>
          <a:noFill/>
          <a:ln/>
        </p:spPr>
        <p:txBody>
          <a:bodyPr wrap="square" lIns="0" tIns="0" rIns="0" bIns="0" rtlCol="0" anchor="ctr"/>
          <a:lstStyle/>
          <a:p>
            <a:pPr algn="ctr" indent="0" marL="0">
              <a:buNone/>
            </a:pPr>
            <a:r>
              <a:rPr lang="en-US" sz="1700" b="1" dirty="0">
                <a:solidFill>
                  <a:srgbClr val="222838"/>
                </a:solidFill>
                <a:latin typeface="Arial" pitchFamily="34" charset="0"/>
                <a:ea typeface="Arial" pitchFamily="34" charset="-122"/>
                <a:cs typeface="Arial" pitchFamily="34" charset="-120"/>
              </a:rPr>
              <a:t>1 · git push</a:t>
            </a:r>
            <a:endParaRPr lang="en-US" sz="1700" dirty="0"/>
          </a:p>
        </p:txBody>
      </p:sp>
      <p:sp>
        <p:nvSpPr>
          <p:cNvPr id="7" name="Text 4"/>
          <p:cNvSpPr/>
          <p:nvPr/>
        </p:nvSpPr>
        <p:spPr>
          <a:xfrm>
            <a:off x="914400" y="3429000"/>
            <a:ext cx="2194560" cy="822960"/>
          </a:xfrm>
          <a:prstGeom prst="rect">
            <a:avLst/>
          </a:prstGeom>
          <a:noFill/>
          <a:ln/>
        </p:spPr>
        <p:txBody>
          <a:bodyPr wrap="square" lIns="0" tIns="0" rIns="0" bIns="0" rtlCol="0" anchor="ctr"/>
          <a:lstStyle/>
          <a:p>
            <a:pPr algn="ctr" indent="0" marL="0">
              <a:buNone/>
            </a:pPr>
            <a:r>
              <a:rPr lang="en-US" sz="1300" dirty="0">
                <a:solidFill>
                  <a:srgbClr val="5A6172"/>
                </a:solidFill>
                <a:latin typeface="Arial" pitchFamily="34" charset="0"/>
                <a:ea typeface="Arial" pitchFamily="34" charset="-122"/>
                <a:cs typeface="Arial" pitchFamily="34" charset="-120"/>
              </a:rPr>
              <a:t>Ich pushe Code</a:t>
            </a:r>
            <a:endParaRPr lang="en-US" sz="1300" dirty="0"/>
          </a:p>
          <a:p>
            <a:pPr algn="ctr" indent="0" marL="0">
              <a:buNone/>
            </a:pPr>
            <a:r>
              <a:rPr lang="en-US" sz="1300" dirty="0">
                <a:solidFill>
                  <a:srgbClr val="5A6172"/>
                </a:solidFill>
                <a:latin typeface="Arial" pitchFamily="34" charset="0"/>
                <a:ea typeface="Arial" pitchFamily="34" charset="-122"/>
                <a:cs typeface="Arial" pitchFamily="34" charset="-120"/>
              </a:rPr>
              <a:t>auf main</a:t>
            </a:r>
            <a:endParaRPr lang="en-US" sz="1300" dirty="0"/>
          </a:p>
        </p:txBody>
      </p:sp>
      <p:sp>
        <p:nvSpPr>
          <p:cNvPr id="8" name="Text 5"/>
          <p:cNvSpPr/>
          <p:nvPr/>
        </p:nvSpPr>
        <p:spPr>
          <a:xfrm>
            <a:off x="3172968" y="2743200"/>
            <a:ext cx="548640" cy="548640"/>
          </a:xfrm>
          <a:prstGeom prst="rect">
            <a:avLst/>
          </a:prstGeom>
          <a:noFill/>
          <a:ln/>
        </p:spPr>
        <p:txBody>
          <a:bodyPr wrap="square" lIns="0" tIns="0" rIns="0" bIns="0" rtlCol="0" anchor="ctr"/>
          <a:lstStyle/>
          <a:p>
            <a:pPr algn="ctr" indent="0" marL="0">
              <a:buNone/>
            </a:pPr>
            <a:r>
              <a:rPr lang="en-US" sz="2800" b="1" dirty="0">
                <a:solidFill>
                  <a:srgbClr val="4F6DF5"/>
                </a:solidFill>
                <a:latin typeface="Arial" pitchFamily="34" charset="0"/>
                <a:ea typeface="Arial" pitchFamily="34" charset="-122"/>
                <a:cs typeface="Arial" pitchFamily="34" charset="-120"/>
              </a:rPr>
              <a:t>→</a:t>
            </a:r>
            <a:endParaRPr lang="en-US" sz="2800" dirty="0"/>
          </a:p>
        </p:txBody>
      </p:sp>
      <p:sp>
        <p:nvSpPr>
          <p:cNvPr id="9" name="Shape 6"/>
          <p:cNvSpPr/>
          <p:nvPr/>
        </p:nvSpPr>
        <p:spPr>
          <a:xfrm>
            <a:off x="3657600" y="1737360"/>
            <a:ext cx="2468880" cy="2651760"/>
          </a:xfrm>
          <a:prstGeom prst="roundRect">
            <a:avLst>
              <a:gd name="adj" fmla="val 4444"/>
            </a:avLst>
          </a:prstGeom>
          <a:solidFill>
            <a:srgbClr val="F4F6FD"/>
          </a:solidFill>
          <a:ln/>
        </p:spPr>
      </p:sp>
      <p:sp>
        <p:nvSpPr>
          <p:cNvPr id="10" name="Shape 7"/>
          <p:cNvSpPr/>
          <p:nvPr/>
        </p:nvSpPr>
        <p:spPr>
          <a:xfrm>
            <a:off x="4480560" y="2011680"/>
            <a:ext cx="822960" cy="822960"/>
          </a:xfrm>
          <a:prstGeom prst="ellipse">
            <a:avLst/>
          </a:prstGeom>
          <a:solidFill>
            <a:srgbClr val="4F6DF5"/>
          </a:solidFill>
          <a:ln/>
        </p:spPr>
      </p:sp>
      <p:pic>
        <p:nvPicPr>
          <p:cNvPr id="11" name="Image 1" descr="preencoded.png">    </p:cNvPr>
          <p:cNvPicPr>
            <a:picLocks noChangeAspect="1"/>
          </p:cNvPicPr>
          <p:nvPr/>
        </p:nvPicPr>
        <p:blipFill>
          <a:blip r:embed="rId2"/>
          <a:stretch>
            <a:fillRect/>
          </a:stretch>
        </p:blipFill>
        <p:spPr>
          <a:xfrm>
            <a:off x="4694530" y="2225650"/>
            <a:ext cx="395021" cy="395021"/>
          </a:xfrm>
          <a:prstGeom prst="rect">
            <a:avLst/>
          </a:prstGeom>
        </p:spPr>
      </p:pic>
      <p:sp>
        <p:nvSpPr>
          <p:cNvPr id="12" name="Text 8"/>
          <p:cNvSpPr/>
          <p:nvPr/>
        </p:nvSpPr>
        <p:spPr>
          <a:xfrm>
            <a:off x="3794760" y="2971800"/>
            <a:ext cx="2194560" cy="411480"/>
          </a:xfrm>
          <a:prstGeom prst="rect">
            <a:avLst/>
          </a:prstGeom>
          <a:noFill/>
          <a:ln/>
        </p:spPr>
        <p:txBody>
          <a:bodyPr wrap="square" lIns="0" tIns="0" rIns="0" bIns="0" rtlCol="0" anchor="ctr"/>
          <a:lstStyle/>
          <a:p>
            <a:pPr algn="ctr" indent="0" marL="0">
              <a:buNone/>
            </a:pPr>
            <a:r>
              <a:rPr lang="en-US" sz="1700" b="1" dirty="0">
                <a:solidFill>
                  <a:srgbClr val="222838"/>
                </a:solidFill>
                <a:latin typeface="Arial" pitchFamily="34" charset="0"/>
                <a:ea typeface="Arial" pitchFamily="34" charset="-122"/>
                <a:cs typeface="Arial" pitchFamily="34" charset="-120"/>
              </a:rPr>
              <a:t>2 · Tests</a:t>
            </a:r>
            <a:endParaRPr lang="en-US" sz="1700" dirty="0"/>
          </a:p>
        </p:txBody>
      </p:sp>
      <p:sp>
        <p:nvSpPr>
          <p:cNvPr id="13" name="Text 9"/>
          <p:cNvSpPr/>
          <p:nvPr/>
        </p:nvSpPr>
        <p:spPr>
          <a:xfrm>
            <a:off x="3794760" y="3429000"/>
            <a:ext cx="2194560" cy="822960"/>
          </a:xfrm>
          <a:prstGeom prst="rect">
            <a:avLst/>
          </a:prstGeom>
          <a:noFill/>
          <a:ln/>
        </p:spPr>
        <p:txBody>
          <a:bodyPr wrap="square" lIns="0" tIns="0" rIns="0" bIns="0" rtlCol="0" anchor="ctr"/>
          <a:lstStyle/>
          <a:p>
            <a:pPr algn="ctr" indent="0" marL="0">
              <a:buNone/>
            </a:pPr>
            <a:r>
              <a:rPr lang="en-US" sz="1300" dirty="0">
                <a:solidFill>
                  <a:srgbClr val="5A6172"/>
                </a:solidFill>
                <a:latin typeface="Arial" pitchFamily="34" charset="0"/>
                <a:ea typeface="Arial" pitchFamily="34" charset="-122"/>
                <a:cs typeface="Arial" pitchFamily="34" charset="-120"/>
              </a:rPr>
              <a:t>GitHub Actions</a:t>
            </a:r>
            <a:endParaRPr lang="en-US" sz="1300" dirty="0"/>
          </a:p>
          <a:p>
            <a:pPr algn="ctr" indent="0" marL="0">
              <a:buNone/>
            </a:pPr>
            <a:r>
              <a:rPr lang="en-US" sz="1300" dirty="0">
                <a:solidFill>
                  <a:srgbClr val="5A6172"/>
                </a:solidFill>
                <a:latin typeface="Arial" pitchFamily="34" charset="0"/>
                <a:ea typeface="Arial" pitchFamily="34" charset="-122"/>
                <a:cs typeface="Arial" pitchFamily="34" charset="-120"/>
              </a:rPr>
              <a:t>führt pytest aus</a:t>
            </a:r>
            <a:endParaRPr lang="en-US" sz="1300" dirty="0"/>
          </a:p>
        </p:txBody>
      </p:sp>
      <p:sp>
        <p:nvSpPr>
          <p:cNvPr id="14" name="Text 10"/>
          <p:cNvSpPr/>
          <p:nvPr/>
        </p:nvSpPr>
        <p:spPr>
          <a:xfrm>
            <a:off x="6053328" y="2743200"/>
            <a:ext cx="548640" cy="548640"/>
          </a:xfrm>
          <a:prstGeom prst="rect">
            <a:avLst/>
          </a:prstGeom>
          <a:noFill/>
          <a:ln/>
        </p:spPr>
        <p:txBody>
          <a:bodyPr wrap="square" lIns="0" tIns="0" rIns="0" bIns="0" rtlCol="0" anchor="ctr"/>
          <a:lstStyle/>
          <a:p>
            <a:pPr algn="ctr" indent="0" marL="0">
              <a:buNone/>
            </a:pPr>
            <a:r>
              <a:rPr lang="en-US" sz="2800" b="1" dirty="0">
                <a:solidFill>
                  <a:srgbClr val="4F6DF5"/>
                </a:solidFill>
                <a:latin typeface="Arial" pitchFamily="34" charset="0"/>
                <a:ea typeface="Arial" pitchFamily="34" charset="-122"/>
                <a:cs typeface="Arial" pitchFamily="34" charset="-120"/>
              </a:rPr>
              <a:t>→</a:t>
            </a:r>
            <a:endParaRPr lang="en-US" sz="2800" dirty="0"/>
          </a:p>
        </p:txBody>
      </p:sp>
      <p:sp>
        <p:nvSpPr>
          <p:cNvPr id="15" name="Shape 11"/>
          <p:cNvSpPr/>
          <p:nvPr/>
        </p:nvSpPr>
        <p:spPr>
          <a:xfrm>
            <a:off x="6537960" y="1737360"/>
            <a:ext cx="2468880" cy="2651760"/>
          </a:xfrm>
          <a:prstGeom prst="roundRect">
            <a:avLst>
              <a:gd name="adj" fmla="val 4444"/>
            </a:avLst>
          </a:prstGeom>
          <a:solidFill>
            <a:srgbClr val="F4F6FD"/>
          </a:solidFill>
          <a:ln/>
        </p:spPr>
      </p:sp>
      <p:sp>
        <p:nvSpPr>
          <p:cNvPr id="16" name="Shape 12"/>
          <p:cNvSpPr/>
          <p:nvPr/>
        </p:nvSpPr>
        <p:spPr>
          <a:xfrm>
            <a:off x="7360920" y="2011680"/>
            <a:ext cx="822960" cy="822960"/>
          </a:xfrm>
          <a:prstGeom prst="ellipse">
            <a:avLst/>
          </a:prstGeom>
          <a:solidFill>
            <a:srgbClr val="4F6DF5"/>
          </a:solidFill>
          <a:ln/>
        </p:spPr>
      </p:sp>
      <p:pic>
        <p:nvPicPr>
          <p:cNvPr id="17" name="Image 2" descr="preencoded.png">    </p:cNvPr>
          <p:cNvPicPr>
            <a:picLocks noChangeAspect="1"/>
          </p:cNvPicPr>
          <p:nvPr/>
        </p:nvPicPr>
        <p:blipFill>
          <a:blip r:embed="rId3"/>
          <a:stretch>
            <a:fillRect/>
          </a:stretch>
        </p:blipFill>
        <p:spPr>
          <a:xfrm>
            <a:off x="7574890" y="2225650"/>
            <a:ext cx="395021" cy="395021"/>
          </a:xfrm>
          <a:prstGeom prst="rect">
            <a:avLst/>
          </a:prstGeom>
        </p:spPr>
      </p:pic>
      <p:sp>
        <p:nvSpPr>
          <p:cNvPr id="18" name="Text 13"/>
          <p:cNvSpPr/>
          <p:nvPr/>
        </p:nvSpPr>
        <p:spPr>
          <a:xfrm>
            <a:off x="6675120" y="2971800"/>
            <a:ext cx="2194560" cy="411480"/>
          </a:xfrm>
          <a:prstGeom prst="rect">
            <a:avLst/>
          </a:prstGeom>
          <a:noFill/>
          <a:ln/>
        </p:spPr>
        <p:txBody>
          <a:bodyPr wrap="square" lIns="0" tIns="0" rIns="0" bIns="0" rtlCol="0" anchor="ctr"/>
          <a:lstStyle/>
          <a:p>
            <a:pPr algn="ctr" indent="0" marL="0">
              <a:buNone/>
            </a:pPr>
            <a:r>
              <a:rPr lang="en-US" sz="1700" b="1" dirty="0">
                <a:solidFill>
                  <a:srgbClr val="222838"/>
                </a:solidFill>
                <a:latin typeface="Arial" pitchFamily="34" charset="0"/>
                <a:ea typeface="Arial" pitchFamily="34" charset="-122"/>
                <a:cs typeface="Arial" pitchFamily="34" charset="-120"/>
              </a:rPr>
              <a:t>3 · Build</a:t>
            </a:r>
            <a:endParaRPr lang="en-US" sz="1700" dirty="0"/>
          </a:p>
        </p:txBody>
      </p:sp>
      <p:sp>
        <p:nvSpPr>
          <p:cNvPr id="19" name="Text 14"/>
          <p:cNvSpPr/>
          <p:nvPr/>
        </p:nvSpPr>
        <p:spPr>
          <a:xfrm>
            <a:off x="6675120" y="3429000"/>
            <a:ext cx="2194560" cy="822960"/>
          </a:xfrm>
          <a:prstGeom prst="rect">
            <a:avLst/>
          </a:prstGeom>
          <a:noFill/>
          <a:ln/>
        </p:spPr>
        <p:txBody>
          <a:bodyPr wrap="square" lIns="0" tIns="0" rIns="0" bIns="0" rtlCol="0" anchor="ctr"/>
          <a:lstStyle/>
          <a:p>
            <a:pPr algn="ctr" indent="0" marL="0">
              <a:buNone/>
            </a:pPr>
            <a:r>
              <a:rPr lang="en-US" sz="1300" dirty="0">
                <a:solidFill>
                  <a:srgbClr val="5A6172"/>
                </a:solidFill>
                <a:latin typeface="Arial" pitchFamily="34" charset="0"/>
                <a:ea typeface="Arial" pitchFamily="34" charset="-122"/>
                <a:cs typeface="Arial" pitchFamily="34" charset="-120"/>
              </a:rPr>
              <a:t>Docker-Images</a:t>
            </a:r>
            <a:endParaRPr lang="en-US" sz="1300" dirty="0"/>
          </a:p>
          <a:p>
            <a:pPr algn="ctr" indent="0" marL="0">
              <a:buNone/>
            </a:pPr>
            <a:r>
              <a:rPr lang="en-US" sz="1300" dirty="0">
                <a:solidFill>
                  <a:srgbClr val="5A6172"/>
                </a:solidFill>
                <a:latin typeface="Arial" pitchFamily="34" charset="0"/>
                <a:ea typeface="Arial" pitchFamily="34" charset="-122"/>
                <a:cs typeface="Arial" pitchFamily="34" charset="-120"/>
              </a:rPr>
              <a:t>werden gebaut</a:t>
            </a:r>
            <a:endParaRPr lang="en-US" sz="1300" dirty="0"/>
          </a:p>
        </p:txBody>
      </p:sp>
      <p:sp>
        <p:nvSpPr>
          <p:cNvPr id="20" name="Text 15"/>
          <p:cNvSpPr/>
          <p:nvPr/>
        </p:nvSpPr>
        <p:spPr>
          <a:xfrm>
            <a:off x="8933688" y="2743200"/>
            <a:ext cx="548640" cy="548640"/>
          </a:xfrm>
          <a:prstGeom prst="rect">
            <a:avLst/>
          </a:prstGeom>
          <a:noFill/>
          <a:ln/>
        </p:spPr>
        <p:txBody>
          <a:bodyPr wrap="square" lIns="0" tIns="0" rIns="0" bIns="0" rtlCol="0" anchor="ctr"/>
          <a:lstStyle/>
          <a:p>
            <a:pPr algn="ctr" indent="0" marL="0">
              <a:buNone/>
            </a:pPr>
            <a:r>
              <a:rPr lang="en-US" sz="2800" b="1" dirty="0">
                <a:solidFill>
                  <a:srgbClr val="4F6DF5"/>
                </a:solidFill>
                <a:latin typeface="Arial" pitchFamily="34" charset="0"/>
                <a:ea typeface="Arial" pitchFamily="34" charset="-122"/>
                <a:cs typeface="Arial" pitchFamily="34" charset="-120"/>
              </a:rPr>
              <a:t>→</a:t>
            </a:r>
            <a:endParaRPr lang="en-US" sz="2800" dirty="0"/>
          </a:p>
        </p:txBody>
      </p:sp>
      <p:sp>
        <p:nvSpPr>
          <p:cNvPr id="21" name="Shape 16"/>
          <p:cNvSpPr/>
          <p:nvPr/>
        </p:nvSpPr>
        <p:spPr>
          <a:xfrm>
            <a:off x="9418320" y="1737360"/>
            <a:ext cx="2468880" cy="2651760"/>
          </a:xfrm>
          <a:prstGeom prst="roundRect">
            <a:avLst>
              <a:gd name="adj" fmla="val 4444"/>
            </a:avLst>
          </a:prstGeom>
          <a:solidFill>
            <a:srgbClr val="F4F6FD"/>
          </a:solidFill>
          <a:ln/>
        </p:spPr>
      </p:sp>
      <p:sp>
        <p:nvSpPr>
          <p:cNvPr id="22" name="Shape 17"/>
          <p:cNvSpPr/>
          <p:nvPr/>
        </p:nvSpPr>
        <p:spPr>
          <a:xfrm>
            <a:off x="10241280" y="2011680"/>
            <a:ext cx="822960" cy="822960"/>
          </a:xfrm>
          <a:prstGeom prst="ellipse">
            <a:avLst/>
          </a:prstGeom>
          <a:solidFill>
            <a:srgbClr val="2E9E5B"/>
          </a:solidFill>
          <a:ln/>
        </p:spPr>
      </p:sp>
      <p:pic>
        <p:nvPicPr>
          <p:cNvPr id="23" name="Image 3" descr="preencoded.png">    </p:cNvPr>
          <p:cNvPicPr>
            <a:picLocks noChangeAspect="1"/>
          </p:cNvPicPr>
          <p:nvPr/>
        </p:nvPicPr>
        <p:blipFill>
          <a:blip r:embed="rId4"/>
          <a:stretch>
            <a:fillRect/>
          </a:stretch>
        </p:blipFill>
        <p:spPr>
          <a:xfrm>
            <a:off x="10455250" y="2225650"/>
            <a:ext cx="395021" cy="395021"/>
          </a:xfrm>
          <a:prstGeom prst="rect">
            <a:avLst/>
          </a:prstGeom>
        </p:spPr>
      </p:pic>
      <p:sp>
        <p:nvSpPr>
          <p:cNvPr id="24" name="Text 18"/>
          <p:cNvSpPr/>
          <p:nvPr/>
        </p:nvSpPr>
        <p:spPr>
          <a:xfrm>
            <a:off x="9555480" y="2971800"/>
            <a:ext cx="2194560" cy="411480"/>
          </a:xfrm>
          <a:prstGeom prst="rect">
            <a:avLst/>
          </a:prstGeom>
          <a:noFill/>
          <a:ln/>
        </p:spPr>
        <p:txBody>
          <a:bodyPr wrap="square" lIns="0" tIns="0" rIns="0" bIns="0" rtlCol="0" anchor="ctr"/>
          <a:lstStyle/>
          <a:p>
            <a:pPr algn="ctr" indent="0" marL="0">
              <a:buNone/>
            </a:pPr>
            <a:r>
              <a:rPr lang="en-US" sz="1700" b="1" dirty="0">
                <a:solidFill>
                  <a:srgbClr val="222838"/>
                </a:solidFill>
                <a:latin typeface="Arial" pitchFamily="34" charset="0"/>
                <a:ea typeface="Arial" pitchFamily="34" charset="-122"/>
                <a:cs typeface="Arial" pitchFamily="34" charset="-120"/>
              </a:rPr>
              <a:t>4 · Deploy</a:t>
            </a:r>
            <a:endParaRPr lang="en-US" sz="1700" dirty="0"/>
          </a:p>
        </p:txBody>
      </p:sp>
      <p:sp>
        <p:nvSpPr>
          <p:cNvPr id="25" name="Text 19"/>
          <p:cNvSpPr/>
          <p:nvPr/>
        </p:nvSpPr>
        <p:spPr>
          <a:xfrm>
            <a:off x="9555480" y="3429000"/>
            <a:ext cx="2194560" cy="822960"/>
          </a:xfrm>
          <a:prstGeom prst="rect">
            <a:avLst/>
          </a:prstGeom>
          <a:noFill/>
          <a:ln/>
        </p:spPr>
        <p:txBody>
          <a:bodyPr wrap="square" lIns="0" tIns="0" rIns="0" bIns="0" rtlCol="0" anchor="ctr"/>
          <a:lstStyle/>
          <a:p>
            <a:pPr algn="ctr" indent="0" marL="0">
              <a:buNone/>
            </a:pPr>
            <a:r>
              <a:rPr lang="en-US" sz="1300" dirty="0">
                <a:solidFill>
                  <a:srgbClr val="5A6172"/>
                </a:solidFill>
                <a:latin typeface="Arial" pitchFamily="34" charset="0"/>
                <a:ea typeface="Arial" pitchFamily="34" charset="-122"/>
                <a:cs typeface="Arial" pitchFamily="34" charset="-120"/>
              </a:rPr>
              <a:t>Staging-EC2</a:t>
            </a:r>
            <a:endParaRPr lang="en-US" sz="1300" dirty="0"/>
          </a:p>
          <a:p>
            <a:pPr algn="ctr" indent="0" marL="0">
              <a:buNone/>
            </a:pPr>
            <a:r>
              <a:rPr lang="en-US" sz="1300" dirty="0">
                <a:solidFill>
                  <a:srgbClr val="5A6172"/>
                </a:solidFill>
                <a:latin typeface="Arial" pitchFamily="34" charset="0"/>
                <a:ea typeface="Arial" pitchFamily="34" charset="-122"/>
                <a:cs typeface="Arial" pitchFamily="34" charset="-120"/>
              </a:rPr>
              <a:t>wird aktualisiert</a:t>
            </a:r>
            <a:endParaRPr lang="en-US" sz="1300" dirty="0"/>
          </a:p>
        </p:txBody>
      </p:sp>
      <p:sp>
        <p:nvSpPr>
          <p:cNvPr id="26" name="Shape 20"/>
          <p:cNvSpPr/>
          <p:nvPr/>
        </p:nvSpPr>
        <p:spPr>
          <a:xfrm>
            <a:off x="777240" y="4800600"/>
            <a:ext cx="6766560" cy="1234440"/>
          </a:xfrm>
          <a:prstGeom prst="roundRect">
            <a:avLst>
              <a:gd name="adj" fmla="val 8889"/>
            </a:avLst>
          </a:prstGeom>
          <a:solidFill>
            <a:srgbClr val="1E2761"/>
          </a:solidFill>
          <a:ln/>
        </p:spPr>
      </p:sp>
      <p:sp>
        <p:nvSpPr>
          <p:cNvPr id="27" name="Shape 21"/>
          <p:cNvSpPr/>
          <p:nvPr/>
        </p:nvSpPr>
        <p:spPr>
          <a:xfrm>
            <a:off x="1051560" y="5029200"/>
            <a:ext cx="777240" cy="777240"/>
          </a:xfrm>
          <a:prstGeom prst="ellipse">
            <a:avLst/>
          </a:prstGeom>
          <a:solidFill>
            <a:srgbClr val="4F6DF5"/>
          </a:solidFill>
          <a:ln/>
        </p:spPr>
      </p:sp>
      <p:pic>
        <p:nvPicPr>
          <p:cNvPr id="28" name="Image 4" descr="preencoded.png">    </p:cNvPr>
          <p:cNvPicPr>
            <a:picLocks noChangeAspect="1"/>
          </p:cNvPicPr>
          <p:nvPr/>
        </p:nvPicPr>
        <p:blipFill>
          <a:blip r:embed="rId5"/>
          <a:stretch>
            <a:fillRect/>
          </a:stretch>
        </p:blipFill>
        <p:spPr>
          <a:xfrm>
            <a:off x="1253642" y="5231282"/>
            <a:ext cx="373075" cy="373075"/>
          </a:xfrm>
          <a:prstGeom prst="rect">
            <a:avLst/>
          </a:prstGeom>
        </p:spPr>
      </p:pic>
      <p:sp>
        <p:nvSpPr>
          <p:cNvPr id="29" name="Text 22"/>
          <p:cNvSpPr/>
          <p:nvPr/>
        </p:nvSpPr>
        <p:spPr>
          <a:xfrm>
            <a:off x="2011680" y="4983480"/>
            <a:ext cx="539496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Test-Gate: </a:t>
            </a:r>
            <a:pPr indent="0" marL="0">
              <a:buNone/>
            </a:pPr>
            <a:r>
              <a:rPr lang="en-US" sz="1400" dirty="0">
                <a:solidFill>
                  <a:srgbClr val="CADCFC"/>
                </a:solidFill>
                <a:latin typeface="Arial" pitchFamily="34" charset="0"/>
                <a:ea typeface="Arial" pitchFamily="34" charset="-122"/>
                <a:cs typeface="Arial" pitchFamily="34" charset="-120"/>
              </a:rPr>
              <a:t>Der Deploy startet nur, wenn alle Tests grün sind. Kaputter Code erreicht den Server nie.</a:t>
            </a:r>
            <a:endParaRPr lang="en-US" sz="1400" dirty="0"/>
          </a:p>
        </p:txBody>
      </p:sp>
      <p:sp>
        <p:nvSpPr>
          <p:cNvPr id="30" name="Shape 23"/>
          <p:cNvSpPr/>
          <p:nvPr/>
        </p:nvSpPr>
        <p:spPr>
          <a:xfrm>
            <a:off x="7818120" y="4800600"/>
            <a:ext cx="3566160" cy="1234440"/>
          </a:xfrm>
          <a:prstGeom prst="roundRect">
            <a:avLst>
              <a:gd name="adj" fmla="val 8889"/>
            </a:avLst>
          </a:prstGeom>
          <a:solidFill>
            <a:srgbClr val="F4F6FD"/>
          </a:solidFill>
          <a:ln/>
        </p:spPr>
      </p:sp>
      <p:sp>
        <p:nvSpPr>
          <p:cNvPr id="31" name="Shape 24"/>
          <p:cNvSpPr/>
          <p:nvPr/>
        </p:nvSpPr>
        <p:spPr>
          <a:xfrm>
            <a:off x="8092440" y="5029200"/>
            <a:ext cx="777240" cy="777240"/>
          </a:xfrm>
          <a:prstGeom prst="ellipse">
            <a:avLst/>
          </a:prstGeom>
          <a:solidFill>
            <a:srgbClr val="611F69"/>
          </a:solidFill>
          <a:ln/>
        </p:spPr>
      </p:sp>
      <p:pic>
        <p:nvPicPr>
          <p:cNvPr id="32" name="Image 5" descr="preencoded.png">    </p:cNvPr>
          <p:cNvPicPr>
            <a:picLocks noChangeAspect="1"/>
          </p:cNvPicPr>
          <p:nvPr/>
        </p:nvPicPr>
        <p:blipFill>
          <a:blip r:embed="rId6"/>
          <a:stretch>
            <a:fillRect/>
          </a:stretch>
        </p:blipFill>
        <p:spPr>
          <a:xfrm>
            <a:off x="8294522" y="5231282"/>
            <a:ext cx="373075" cy="373075"/>
          </a:xfrm>
          <a:prstGeom prst="rect">
            <a:avLst/>
          </a:prstGeom>
        </p:spPr>
      </p:pic>
      <p:sp>
        <p:nvSpPr>
          <p:cNvPr id="33" name="Text 25"/>
          <p:cNvSpPr/>
          <p:nvPr/>
        </p:nvSpPr>
        <p:spPr>
          <a:xfrm>
            <a:off x="9052560" y="4983480"/>
            <a:ext cx="2240280" cy="914400"/>
          </a:xfrm>
          <a:prstGeom prst="rect">
            <a:avLst/>
          </a:prstGeom>
          <a:noFill/>
          <a:ln/>
        </p:spPr>
        <p:txBody>
          <a:bodyPr wrap="square" lIns="0" tIns="0" rIns="0" bIns="0" rtlCol="0" anchor="ctr"/>
          <a:lstStyle/>
          <a:p>
            <a:pPr indent="0" marL="0">
              <a:buNone/>
            </a:pPr>
            <a:r>
              <a:rPr lang="en-US" sz="1300" b="1" dirty="0">
                <a:solidFill>
                  <a:srgbClr val="222838"/>
                </a:solidFill>
                <a:latin typeface="Arial" pitchFamily="34" charset="0"/>
                <a:ea typeface="Arial" pitchFamily="34" charset="-122"/>
                <a:cs typeface="Arial" pitchFamily="34" charset="-120"/>
              </a:rPr>
              <a:t>Slack </a:t>
            </a:r>
            <a:pPr indent="0" marL="0">
              <a:buNone/>
            </a:pPr>
            <a:r>
              <a:rPr lang="en-US" sz="1300" dirty="0">
                <a:solidFill>
                  <a:srgbClr val="5A6172"/>
                </a:solidFill>
                <a:latin typeface="Arial" pitchFamily="34" charset="0"/>
                <a:ea typeface="Arial" pitchFamily="34" charset="-122"/>
                <a:cs typeface="Arial" pitchFamily="34" charset="-120"/>
              </a:rPr>
              <a:t>meldet Start, Erfolg und Fehler jedes Laufs.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Der Tech-Stack</a:t>
            </a:r>
            <a:endParaRPr lang="en-US" sz="3400" dirty="0"/>
          </a:p>
        </p:txBody>
      </p:sp>
      <p:sp>
        <p:nvSpPr>
          <p:cNvPr id="3" name="Shape 1"/>
          <p:cNvSpPr/>
          <p:nvPr/>
        </p:nvSpPr>
        <p:spPr>
          <a:xfrm>
            <a:off x="777240" y="1691640"/>
            <a:ext cx="3383280" cy="2011680"/>
          </a:xfrm>
          <a:prstGeom prst="roundRect">
            <a:avLst>
              <a:gd name="adj" fmla="val 5455"/>
            </a:avLst>
          </a:prstGeom>
          <a:solidFill>
            <a:srgbClr val="F4F6FD"/>
          </a:solidFill>
          <a:ln/>
        </p:spPr>
      </p:sp>
      <p:sp>
        <p:nvSpPr>
          <p:cNvPr id="4" name="Shape 2"/>
          <p:cNvSpPr/>
          <p:nvPr/>
        </p:nvSpPr>
        <p:spPr>
          <a:xfrm>
            <a:off x="1051560" y="1965960"/>
            <a:ext cx="640080" cy="640080"/>
          </a:xfrm>
          <a:prstGeom prst="ellipse">
            <a:avLst/>
          </a:prstGeom>
          <a:solidFill>
            <a:srgbClr val="4F6DF5"/>
          </a:solidFill>
          <a:ln/>
        </p:spPr>
      </p:sp>
      <p:pic>
        <p:nvPicPr>
          <p:cNvPr id="5" name="Image 0" descr="preencoded.png">    </p:cNvPr>
          <p:cNvPicPr>
            <a:picLocks noChangeAspect="1"/>
          </p:cNvPicPr>
          <p:nvPr/>
        </p:nvPicPr>
        <p:blipFill>
          <a:blip r:embed="rId1"/>
          <a:stretch>
            <a:fillRect/>
          </a:stretch>
        </p:blipFill>
        <p:spPr>
          <a:xfrm>
            <a:off x="1217981" y="2132381"/>
            <a:ext cx="307238" cy="307238"/>
          </a:xfrm>
          <a:prstGeom prst="rect">
            <a:avLst/>
          </a:prstGeom>
        </p:spPr>
      </p:pic>
      <p:sp>
        <p:nvSpPr>
          <p:cNvPr id="6" name="Text 3"/>
          <p:cNvSpPr/>
          <p:nvPr/>
        </p:nvSpPr>
        <p:spPr>
          <a:xfrm>
            <a:off x="1828800" y="2011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Frontend</a:t>
            </a:r>
            <a:endParaRPr lang="en-US" sz="1700" dirty="0"/>
          </a:p>
        </p:txBody>
      </p:sp>
      <p:sp>
        <p:nvSpPr>
          <p:cNvPr id="7" name="Text 4"/>
          <p:cNvSpPr/>
          <p:nvPr/>
        </p:nvSpPr>
        <p:spPr>
          <a:xfrm>
            <a:off x="1051560" y="2743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React mit Vite – schnelle, moderne Oberfläche</a:t>
            </a:r>
            <a:endParaRPr lang="en-US" sz="1300" dirty="0"/>
          </a:p>
        </p:txBody>
      </p:sp>
      <p:sp>
        <p:nvSpPr>
          <p:cNvPr id="8" name="Shape 5"/>
          <p:cNvSpPr/>
          <p:nvPr/>
        </p:nvSpPr>
        <p:spPr>
          <a:xfrm>
            <a:off x="4434840" y="1691640"/>
            <a:ext cx="3383280" cy="2011680"/>
          </a:xfrm>
          <a:prstGeom prst="roundRect">
            <a:avLst>
              <a:gd name="adj" fmla="val 5455"/>
            </a:avLst>
          </a:prstGeom>
          <a:solidFill>
            <a:srgbClr val="F4F6FD"/>
          </a:solidFill>
          <a:ln/>
        </p:spPr>
      </p:sp>
      <p:sp>
        <p:nvSpPr>
          <p:cNvPr id="9" name="Shape 6"/>
          <p:cNvSpPr/>
          <p:nvPr/>
        </p:nvSpPr>
        <p:spPr>
          <a:xfrm>
            <a:off x="4709160" y="1965960"/>
            <a:ext cx="640080" cy="640080"/>
          </a:xfrm>
          <a:prstGeom prst="ellipse">
            <a:avLst/>
          </a:prstGeom>
          <a:solidFill>
            <a:srgbClr val="4F6DF5"/>
          </a:solidFill>
          <a:ln/>
        </p:spPr>
      </p:sp>
      <p:pic>
        <p:nvPicPr>
          <p:cNvPr id="10" name="Image 1" descr="preencoded.png">    </p:cNvPr>
          <p:cNvPicPr>
            <a:picLocks noChangeAspect="1"/>
          </p:cNvPicPr>
          <p:nvPr/>
        </p:nvPicPr>
        <p:blipFill>
          <a:blip r:embed="rId2"/>
          <a:stretch>
            <a:fillRect/>
          </a:stretch>
        </p:blipFill>
        <p:spPr>
          <a:xfrm>
            <a:off x="4875581" y="2132381"/>
            <a:ext cx="307238" cy="307238"/>
          </a:xfrm>
          <a:prstGeom prst="rect">
            <a:avLst/>
          </a:prstGeom>
        </p:spPr>
      </p:pic>
      <p:sp>
        <p:nvSpPr>
          <p:cNvPr id="11" name="Text 7"/>
          <p:cNvSpPr/>
          <p:nvPr/>
        </p:nvSpPr>
        <p:spPr>
          <a:xfrm>
            <a:off x="5486400" y="2011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Backend</a:t>
            </a:r>
            <a:endParaRPr lang="en-US" sz="1700" dirty="0"/>
          </a:p>
        </p:txBody>
      </p:sp>
      <p:sp>
        <p:nvSpPr>
          <p:cNvPr id="12" name="Text 8"/>
          <p:cNvSpPr/>
          <p:nvPr/>
        </p:nvSpPr>
        <p:spPr>
          <a:xfrm>
            <a:off x="4709160" y="2743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FastAPI (Python) + SQLite, später PostgreSQL</a:t>
            </a:r>
            <a:endParaRPr lang="en-US" sz="1300" dirty="0"/>
          </a:p>
        </p:txBody>
      </p:sp>
      <p:sp>
        <p:nvSpPr>
          <p:cNvPr id="13" name="Shape 9"/>
          <p:cNvSpPr/>
          <p:nvPr/>
        </p:nvSpPr>
        <p:spPr>
          <a:xfrm>
            <a:off x="8092440" y="1691640"/>
            <a:ext cx="3383280" cy="2011680"/>
          </a:xfrm>
          <a:prstGeom prst="roundRect">
            <a:avLst>
              <a:gd name="adj" fmla="val 5455"/>
            </a:avLst>
          </a:prstGeom>
          <a:solidFill>
            <a:srgbClr val="F4F6FD"/>
          </a:solidFill>
          <a:ln/>
        </p:spPr>
      </p:sp>
      <p:sp>
        <p:nvSpPr>
          <p:cNvPr id="14" name="Shape 10"/>
          <p:cNvSpPr/>
          <p:nvPr/>
        </p:nvSpPr>
        <p:spPr>
          <a:xfrm>
            <a:off x="8366760" y="1965960"/>
            <a:ext cx="640080" cy="640080"/>
          </a:xfrm>
          <a:prstGeom prst="ellipse">
            <a:avLst/>
          </a:prstGeom>
          <a:solidFill>
            <a:srgbClr val="1E2761"/>
          </a:solidFill>
          <a:ln/>
        </p:spPr>
      </p:sp>
      <p:pic>
        <p:nvPicPr>
          <p:cNvPr id="15" name="Image 2" descr="preencoded.png">    </p:cNvPr>
          <p:cNvPicPr>
            <a:picLocks noChangeAspect="1"/>
          </p:cNvPicPr>
          <p:nvPr/>
        </p:nvPicPr>
        <p:blipFill>
          <a:blip r:embed="rId3"/>
          <a:stretch>
            <a:fillRect/>
          </a:stretch>
        </p:blipFill>
        <p:spPr>
          <a:xfrm>
            <a:off x="8533181" y="2132381"/>
            <a:ext cx="307238" cy="307238"/>
          </a:xfrm>
          <a:prstGeom prst="rect">
            <a:avLst/>
          </a:prstGeom>
        </p:spPr>
      </p:pic>
      <p:sp>
        <p:nvSpPr>
          <p:cNvPr id="16" name="Text 11"/>
          <p:cNvSpPr/>
          <p:nvPr/>
        </p:nvSpPr>
        <p:spPr>
          <a:xfrm>
            <a:off x="9144000" y="2011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Container</a:t>
            </a:r>
            <a:endParaRPr lang="en-US" sz="1700" dirty="0"/>
          </a:p>
        </p:txBody>
      </p:sp>
      <p:sp>
        <p:nvSpPr>
          <p:cNvPr id="17" name="Text 12"/>
          <p:cNvSpPr/>
          <p:nvPr/>
        </p:nvSpPr>
        <p:spPr>
          <a:xfrm>
            <a:off x="8366760" y="2743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Docker Multi-Stage, ausgeliefert mit Nginx</a:t>
            </a:r>
            <a:endParaRPr lang="en-US" sz="1300" dirty="0"/>
          </a:p>
        </p:txBody>
      </p:sp>
      <p:sp>
        <p:nvSpPr>
          <p:cNvPr id="18" name="Shape 13"/>
          <p:cNvSpPr/>
          <p:nvPr/>
        </p:nvSpPr>
        <p:spPr>
          <a:xfrm>
            <a:off x="777240" y="3977640"/>
            <a:ext cx="3383280" cy="2011680"/>
          </a:xfrm>
          <a:prstGeom prst="roundRect">
            <a:avLst>
              <a:gd name="adj" fmla="val 5455"/>
            </a:avLst>
          </a:prstGeom>
          <a:solidFill>
            <a:srgbClr val="F4F6FD"/>
          </a:solidFill>
          <a:ln/>
        </p:spPr>
      </p:sp>
      <p:sp>
        <p:nvSpPr>
          <p:cNvPr id="19" name="Shape 14"/>
          <p:cNvSpPr/>
          <p:nvPr/>
        </p:nvSpPr>
        <p:spPr>
          <a:xfrm>
            <a:off x="1051560" y="4251960"/>
            <a:ext cx="640080" cy="640080"/>
          </a:xfrm>
          <a:prstGeom prst="ellipse">
            <a:avLst/>
          </a:prstGeom>
          <a:solidFill>
            <a:srgbClr val="1E2761"/>
          </a:solidFill>
          <a:ln/>
        </p:spPr>
      </p:sp>
      <p:pic>
        <p:nvPicPr>
          <p:cNvPr id="20" name="Image 3" descr="preencoded.png">    </p:cNvPr>
          <p:cNvPicPr>
            <a:picLocks noChangeAspect="1"/>
          </p:cNvPicPr>
          <p:nvPr/>
        </p:nvPicPr>
        <p:blipFill>
          <a:blip r:embed="rId4"/>
          <a:stretch>
            <a:fillRect/>
          </a:stretch>
        </p:blipFill>
        <p:spPr>
          <a:xfrm>
            <a:off x="1217981" y="4418381"/>
            <a:ext cx="307238" cy="307238"/>
          </a:xfrm>
          <a:prstGeom prst="rect">
            <a:avLst/>
          </a:prstGeom>
        </p:spPr>
      </p:pic>
      <p:sp>
        <p:nvSpPr>
          <p:cNvPr id="21" name="Text 15"/>
          <p:cNvSpPr/>
          <p:nvPr/>
        </p:nvSpPr>
        <p:spPr>
          <a:xfrm>
            <a:off x="1828800" y="4297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Infrastruktur</a:t>
            </a:r>
            <a:endParaRPr lang="en-US" sz="1700" dirty="0"/>
          </a:p>
        </p:txBody>
      </p:sp>
      <p:sp>
        <p:nvSpPr>
          <p:cNvPr id="22" name="Text 16"/>
          <p:cNvSpPr/>
          <p:nvPr/>
        </p:nvSpPr>
        <p:spPr>
          <a:xfrm>
            <a:off x="1051560" y="5029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Terraform: VPC, EC2, S3 – alles als Code</a:t>
            </a:r>
            <a:endParaRPr lang="en-US" sz="1300" dirty="0"/>
          </a:p>
        </p:txBody>
      </p:sp>
      <p:sp>
        <p:nvSpPr>
          <p:cNvPr id="23" name="Shape 17"/>
          <p:cNvSpPr/>
          <p:nvPr/>
        </p:nvSpPr>
        <p:spPr>
          <a:xfrm>
            <a:off x="4434840" y="3977640"/>
            <a:ext cx="3383280" cy="2011680"/>
          </a:xfrm>
          <a:prstGeom prst="roundRect">
            <a:avLst>
              <a:gd name="adj" fmla="val 5455"/>
            </a:avLst>
          </a:prstGeom>
          <a:solidFill>
            <a:srgbClr val="F4F6FD"/>
          </a:solidFill>
          <a:ln/>
        </p:spPr>
      </p:sp>
      <p:sp>
        <p:nvSpPr>
          <p:cNvPr id="24" name="Shape 18"/>
          <p:cNvSpPr/>
          <p:nvPr/>
        </p:nvSpPr>
        <p:spPr>
          <a:xfrm>
            <a:off x="4709160" y="4251960"/>
            <a:ext cx="640080" cy="640080"/>
          </a:xfrm>
          <a:prstGeom prst="ellipse">
            <a:avLst/>
          </a:prstGeom>
          <a:solidFill>
            <a:srgbClr val="2E9E5B"/>
          </a:solidFill>
          <a:ln/>
        </p:spPr>
      </p:sp>
      <p:pic>
        <p:nvPicPr>
          <p:cNvPr id="25" name="Image 4" descr="preencoded.png">    </p:cNvPr>
          <p:cNvPicPr>
            <a:picLocks noChangeAspect="1"/>
          </p:cNvPicPr>
          <p:nvPr/>
        </p:nvPicPr>
        <p:blipFill>
          <a:blip r:embed="rId5"/>
          <a:stretch>
            <a:fillRect/>
          </a:stretch>
        </p:blipFill>
        <p:spPr>
          <a:xfrm>
            <a:off x="4875581" y="4418381"/>
            <a:ext cx="307238" cy="307238"/>
          </a:xfrm>
          <a:prstGeom prst="rect">
            <a:avLst/>
          </a:prstGeom>
        </p:spPr>
      </p:pic>
      <p:sp>
        <p:nvSpPr>
          <p:cNvPr id="26" name="Text 19"/>
          <p:cNvSpPr/>
          <p:nvPr/>
        </p:nvSpPr>
        <p:spPr>
          <a:xfrm>
            <a:off x="5486400" y="4297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CI/CD</a:t>
            </a:r>
            <a:endParaRPr lang="en-US" sz="1700" dirty="0"/>
          </a:p>
        </p:txBody>
      </p:sp>
      <p:sp>
        <p:nvSpPr>
          <p:cNvPr id="27" name="Text 20"/>
          <p:cNvSpPr/>
          <p:nvPr/>
        </p:nvSpPr>
        <p:spPr>
          <a:xfrm>
            <a:off x="4709160" y="5029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GitHub Actions für Staging &amp; Production</a:t>
            </a:r>
            <a:endParaRPr lang="en-US" sz="1300" dirty="0"/>
          </a:p>
        </p:txBody>
      </p:sp>
      <p:sp>
        <p:nvSpPr>
          <p:cNvPr id="28" name="Shape 21"/>
          <p:cNvSpPr/>
          <p:nvPr/>
        </p:nvSpPr>
        <p:spPr>
          <a:xfrm>
            <a:off x="8092440" y="3977640"/>
            <a:ext cx="3383280" cy="2011680"/>
          </a:xfrm>
          <a:prstGeom prst="roundRect">
            <a:avLst>
              <a:gd name="adj" fmla="val 5455"/>
            </a:avLst>
          </a:prstGeom>
          <a:solidFill>
            <a:srgbClr val="F4F6FD"/>
          </a:solidFill>
          <a:ln/>
        </p:spPr>
      </p:sp>
      <p:sp>
        <p:nvSpPr>
          <p:cNvPr id="29" name="Shape 22"/>
          <p:cNvSpPr/>
          <p:nvPr/>
        </p:nvSpPr>
        <p:spPr>
          <a:xfrm>
            <a:off x="8366760" y="4251960"/>
            <a:ext cx="640080" cy="640080"/>
          </a:xfrm>
          <a:prstGeom prst="ellipse">
            <a:avLst/>
          </a:prstGeom>
          <a:solidFill>
            <a:srgbClr val="2E9E5B"/>
          </a:solidFill>
          <a:ln/>
        </p:spPr>
      </p:sp>
      <p:pic>
        <p:nvPicPr>
          <p:cNvPr id="30" name="Image 5" descr="preencoded.png">    </p:cNvPr>
          <p:cNvPicPr>
            <a:picLocks noChangeAspect="1"/>
          </p:cNvPicPr>
          <p:nvPr/>
        </p:nvPicPr>
        <p:blipFill>
          <a:blip r:embed="rId6"/>
          <a:stretch>
            <a:fillRect/>
          </a:stretch>
        </p:blipFill>
        <p:spPr>
          <a:xfrm>
            <a:off x="8533181" y="4418381"/>
            <a:ext cx="307238" cy="307238"/>
          </a:xfrm>
          <a:prstGeom prst="rect">
            <a:avLst/>
          </a:prstGeom>
        </p:spPr>
      </p:pic>
      <p:sp>
        <p:nvSpPr>
          <p:cNvPr id="31" name="Text 23"/>
          <p:cNvSpPr/>
          <p:nvPr/>
        </p:nvSpPr>
        <p:spPr>
          <a:xfrm>
            <a:off x="9144000" y="4297680"/>
            <a:ext cx="2194560" cy="50292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Sicherheit</a:t>
            </a:r>
            <a:endParaRPr lang="en-US" sz="1700" dirty="0"/>
          </a:p>
        </p:txBody>
      </p:sp>
      <p:sp>
        <p:nvSpPr>
          <p:cNvPr id="32" name="Text 24"/>
          <p:cNvSpPr/>
          <p:nvPr/>
        </p:nvSpPr>
        <p:spPr>
          <a:xfrm>
            <a:off x="8366760" y="5029200"/>
            <a:ext cx="2834640" cy="868680"/>
          </a:xfrm>
          <a:prstGeom prst="rect">
            <a:avLst/>
          </a:prstGeom>
          <a:noFill/>
          <a:ln/>
        </p:spPr>
        <p:txBody>
          <a:bodyPr wrap="square" lIns="0" tIns="0" rIns="0" bIns="0" rtlCol="0" anchor="ctr"/>
          <a:lstStyle/>
          <a:p>
            <a:pPr indent="0" marL="0">
              <a:buNone/>
            </a:pPr>
            <a:r>
              <a:rPr lang="en-US" sz="1300" dirty="0">
                <a:solidFill>
                  <a:srgbClr val="5A6172"/>
                </a:solidFill>
                <a:latin typeface="Arial" pitchFamily="34" charset="0"/>
                <a:ea typeface="Arial" pitchFamily="34" charset="-122"/>
                <a:cs typeface="Arial" pitchFamily="34" charset="-120"/>
              </a:rPr>
              <a:t>Secrets verschlüsselt in GitHub, nie im Code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Qualität zuerst: das Test-Gate</a:t>
            </a:r>
            <a:endParaRPr lang="en-US" sz="3400" dirty="0"/>
          </a:p>
        </p:txBody>
      </p:sp>
      <p:sp>
        <p:nvSpPr>
          <p:cNvPr id="3" name="Text 1"/>
          <p:cNvSpPr/>
          <p:nvPr/>
        </p:nvSpPr>
        <p:spPr>
          <a:xfrm>
            <a:off x="777240" y="1737360"/>
            <a:ext cx="2377440" cy="1188720"/>
          </a:xfrm>
          <a:prstGeom prst="rect">
            <a:avLst/>
          </a:prstGeom>
          <a:noFill/>
          <a:ln/>
        </p:spPr>
        <p:txBody>
          <a:bodyPr wrap="square" lIns="0" tIns="0" rIns="0" bIns="0" rtlCol="0" anchor="ctr"/>
          <a:lstStyle/>
          <a:p>
            <a:pPr indent="0" marL="0">
              <a:buNone/>
            </a:pPr>
            <a:r>
              <a:rPr lang="en-US" sz="6600" b="1" dirty="0">
                <a:solidFill>
                  <a:srgbClr val="4F6DF5"/>
                </a:solidFill>
                <a:latin typeface="Arial" pitchFamily="34" charset="0"/>
                <a:ea typeface="Arial" pitchFamily="34" charset="-122"/>
                <a:cs typeface="Arial" pitchFamily="34" charset="-120"/>
              </a:rPr>
              <a:t>10</a:t>
            </a:r>
            <a:endParaRPr lang="en-US" sz="6600" dirty="0"/>
          </a:p>
        </p:txBody>
      </p:sp>
      <p:sp>
        <p:nvSpPr>
          <p:cNvPr id="4" name="Text 2"/>
          <p:cNvSpPr/>
          <p:nvPr/>
        </p:nvSpPr>
        <p:spPr>
          <a:xfrm>
            <a:off x="777240" y="2926080"/>
            <a:ext cx="2651760" cy="731520"/>
          </a:xfrm>
          <a:prstGeom prst="rect">
            <a:avLst/>
          </a:prstGeom>
          <a:noFill/>
          <a:ln/>
        </p:spPr>
        <p:txBody>
          <a:bodyPr wrap="square" lIns="0" tIns="0" rIns="0" bIns="0" rtlCol="0" anchor="ctr"/>
          <a:lstStyle/>
          <a:p>
            <a:pPr indent="0" marL="0">
              <a:buNone/>
            </a:pPr>
            <a:r>
              <a:rPr lang="en-US" sz="1400" dirty="0">
                <a:solidFill>
                  <a:srgbClr val="5A6172"/>
                </a:solidFill>
                <a:latin typeface="Arial" pitchFamily="34" charset="0"/>
                <a:ea typeface="Arial" pitchFamily="34" charset="-122"/>
                <a:cs typeface="Arial" pitchFamily="34" charset="-120"/>
              </a:rPr>
              <a:t>automatische Tests</a:t>
            </a:r>
            <a:endParaRPr lang="en-US" sz="1400" dirty="0"/>
          </a:p>
          <a:p>
            <a:pPr indent="0" marL="0">
              <a:buNone/>
            </a:pPr>
            <a:r>
              <a:rPr lang="en-US" sz="1400" dirty="0">
                <a:solidFill>
                  <a:srgbClr val="5A6172"/>
                </a:solidFill>
                <a:latin typeface="Arial" pitchFamily="34" charset="0"/>
                <a:ea typeface="Arial" pitchFamily="34" charset="-122"/>
                <a:cs typeface="Arial" pitchFamily="34" charset="-120"/>
              </a:rPr>
              <a:t>(pytest)</a:t>
            </a:r>
            <a:endParaRPr lang="en-US" sz="1400" dirty="0"/>
          </a:p>
        </p:txBody>
      </p:sp>
      <p:sp>
        <p:nvSpPr>
          <p:cNvPr id="5" name="Text 3"/>
          <p:cNvSpPr/>
          <p:nvPr/>
        </p:nvSpPr>
        <p:spPr>
          <a:xfrm>
            <a:off x="777240" y="3931920"/>
            <a:ext cx="2377440" cy="1188720"/>
          </a:xfrm>
          <a:prstGeom prst="rect">
            <a:avLst/>
          </a:prstGeom>
          <a:noFill/>
          <a:ln/>
        </p:spPr>
        <p:txBody>
          <a:bodyPr wrap="square" lIns="0" tIns="0" rIns="0" bIns="0" rtlCol="0" anchor="ctr"/>
          <a:lstStyle/>
          <a:p>
            <a:pPr indent="0" marL="0">
              <a:buNone/>
            </a:pPr>
            <a:r>
              <a:rPr lang="en-US" sz="6600" b="1" dirty="0">
                <a:solidFill>
                  <a:srgbClr val="2E9E5B"/>
                </a:solidFill>
                <a:latin typeface="Arial" pitchFamily="34" charset="0"/>
                <a:ea typeface="Arial" pitchFamily="34" charset="-122"/>
                <a:cs typeface="Arial" pitchFamily="34" charset="-120"/>
              </a:rPr>
              <a:t>12s</a:t>
            </a:r>
            <a:endParaRPr lang="en-US" sz="6600" dirty="0"/>
          </a:p>
        </p:txBody>
      </p:sp>
      <p:sp>
        <p:nvSpPr>
          <p:cNvPr id="6" name="Text 4"/>
          <p:cNvSpPr/>
          <p:nvPr/>
        </p:nvSpPr>
        <p:spPr>
          <a:xfrm>
            <a:off x="777240" y="5120640"/>
            <a:ext cx="2651760" cy="731520"/>
          </a:xfrm>
          <a:prstGeom prst="rect">
            <a:avLst/>
          </a:prstGeom>
          <a:noFill/>
          <a:ln/>
        </p:spPr>
        <p:txBody>
          <a:bodyPr wrap="square" lIns="0" tIns="0" rIns="0" bIns="0" rtlCol="0" anchor="ctr"/>
          <a:lstStyle/>
          <a:p>
            <a:pPr indent="0" marL="0">
              <a:buNone/>
            </a:pPr>
            <a:r>
              <a:rPr lang="en-US" sz="1400" dirty="0">
                <a:solidFill>
                  <a:srgbClr val="5A6172"/>
                </a:solidFill>
                <a:latin typeface="Arial" pitchFamily="34" charset="0"/>
                <a:ea typeface="Arial" pitchFamily="34" charset="-122"/>
                <a:cs typeface="Arial" pitchFamily="34" charset="-120"/>
              </a:rPr>
              <a:t>dauert ein Testlauf</a:t>
            </a:r>
            <a:endParaRPr lang="en-US" sz="1400" dirty="0"/>
          </a:p>
          <a:p>
            <a:pPr indent="0" marL="0">
              <a:buNone/>
            </a:pPr>
            <a:r>
              <a:rPr lang="en-US" sz="1400" dirty="0">
                <a:solidFill>
                  <a:srgbClr val="5A6172"/>
                </a:solidFill>
                <a:latin typeface="Arial" pitchFamily="34" charset="0"/>
                <a:ea typeface="Arial" pitchFamily="34" charset="-122"/>
                <a:cs typeface="Arial" pitchFamily="34" charset="-120"/>
              </a:rPr>
              <a:t>in der Pipeline</a:t>
            </a:r>
            <a:endParaRPr lang="en-US" sz="1400" dirty="0"/>
          </a:p>
        </p:txBody>
      </p:sp>
      <p:sp>
        <p:nvSpPr>
          <p:cNvPr id="7" name="Shape 5"/>
          <p:cNvSpPr/>
          <p:nvPr/>
        </p:nvSpPr>
        <p:spPr>
          <a:xfrm>
            <a:off x="3977640" y="1737360"/>
            <a:ext cx="7406640" cy="4114800"/>
          </a:xfrm>
          <a:prstGeom prst="roundRect">
            <a:avLst>
              <a:gd name="adj" fmla="val 2667"/>
            </a:avLst>
          </a:prstGeom>
          <a:solidFill>
            <a:srgbClr val="F4F6FD"/>
          </a:solidFill>
          <a:ln/>
        </p:spPr>
      </p:sp>
      <p:sp>
        <p:nvSpPr>
          <p:cNvPr id="8" name="Text 6"/>
          <p:cNvSpPr/>
          <p:nvPr/>
        </p:nvSpPr>
        <p:spPr>
          <a:xfrm>
            <a:off x="4343400" y="2011680"/>
            <a:ext cx="6675120" cy="457200"/>
          </a:xfrm>
          <a:prstGeom prst="rect">
            <a:avLst/>
          </a:prstGeom>
          <a:noFill/>
          <a:ln/>
        </p:spPr>
        <p:txBody>
          <a:bodyPr wrap="square" lIns="0" tIns="0" rIns="0" bIns="0" rtlCol="0" anchor="ctr"/>
          <a:lstStyle/>
          <a:p>
            <a:pPr indent="0" marL="0">
              <a:buNone/>
            </a:pPr>
            <a:r>
              <a:rPr lang="en-US" sz="1800" b="1" dirty="0">
                <a:solidFill>
                  <a:srgbClr val="222838"/>
                </a:solidFill>
                <a:latin typeface="Arial" pitchFamily="34" charset="0"/>
                <a:ea typeface="Arial" pitchFamily="34" charset="-122"/>
                <a:cs typeface="Arial" pitchFamily="34" charset="-120"/>
              </a:rPr>
              <a:t>Was wird getestet?</a:t>
            </a:r>
            <a:endParaRPr lang="en-US" sz="1800" dirty="0"/>
          </a:p>
        </p:txBody>
      </p:sp>
      <p:sp>
        <p:nvSpPr>
          <p:cNvPr id="9" name="Text 7"/>
          <p:cNvSpPr/>
          <p:nvPr/>
        </p:nvSpPr>
        <p:spPr>
          <a:xfrm>
            <a:off x="4343400" y="2606040"/>
            <a:ext cx="6766560" cy="201168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5A6172"/>
                </a:solidFill>
                <a:latin typeface="Arial" pitchFamily="34" charset="0"/>
                <a:ea typeface="Arial" pitchFamily="34" charset="-122"/>
                <a:cs typeface="Arial" pitchFamily="34" charset="-120"/>
              </a:rPr>
              <a:t>Alle API-Endpunkte: anlegen, lesen, ändern, löschen</a:t>
            </a:r>
            <a:endParaRPr lang="en-US" sz="1500" dirty="0"/>
          </a:p>
          <a:p>
            <a:pPr marL="342900" indent="-342900">
              <a:spcAft>
                <a:spcPts val="1000"/>
              </a:spcAft>
              <a:buSzPct val="100000"/>
              <a:buChar char="•"/>
            </a:pPr>
            <a:r>
              <a:rPr lang="en-US" sz="1500" dirty="0">
                <a:solidFill>
                  <a:srgbClr val="5A6172"/>
                </a:solidFill>
                <a:latin typeface="Arial" pitchFamily="34" charset="0"/>
                <a:ea typeface="Arial" pitchFamily="34" charset="-122"/>
                <a:cs typeface="Arial" pitchFamily="34" charset="-120"/>
              </a:rPr>
              <a:t>Fehlerfälle: fehlender Titel, ungültiger Status, unbekannte ID</a:t>
            </a:r>
            <a:endParaRPr lang="en-US" sz="1500" dirty="0"/>
          </a:p>
          <a:p>
            <a:pPr marL="342900" indent="-342900">
              <a:spcAft>
                <a:spcPts val="1000"/>
              </a:spcAft>
              <a:buSzPct val="100000"/>
              <a:buChar char="•"/>
            </a:pPr>
            <a:r>
              <a:rPr lang="en-US" sz="1500" dirty="0">
                <a:solidFill>
                  <a:srgbClr val="5A6172"/>
                </a:solidFill>
                <a:latin typeface="Arial" pitchFamily="34" charset="0"/>
                <a:ea typeface="Arial" pitchFamily="34" charset="-122"/>
                <a:cs typeface="Arial" pitchFamily="34" charset="-120"/>
              </a:rPr>
              <a:t>Tests laufen gegen eine Wegwerf-Datenbank im Speicher</a:t>
            </a:r>
            <a:endParaRPr lang="en-US" sz="1500" dirty="0"/>
          </a:p>
          <a:p>
            <a:pPr marL="342900" indent="-342900">
              <a:spcAft>
                <a:spcPts val="1000"/>
              </a:spcAft>
              <a:buSzPct val="100000"/>
              <a:buChar char="•"/>
            </a:pPr>
            <a:r>
              <a:rPr lang="en-US" sz="1500" dirty="0">
                <a:solidFill>
                  <a:srgbClr val="5A6172"/>
                </a:solidFill>
                <a:latin typeface="Arial" pitchFamily="34" charset="0"/>
                <a:ea typeface="Arial" pitchFamily="34" charset="-122"/>
                <a:cs typeface="Arial" pitchFamily="34" charset="-120"/>
              </a:rPr>
              <a:t>Lokal und in der Pipeline exakt dieselben Tests</a:t>
            </a:r>
            <a:endParaRPr lang="en-US" sz="1500" dirty="0"/>
          </a:p>
        </p:txBody>
      </p:sp>
      <p:sp>
        <p:nvSpPr>
          <p:cNvPr id="10" name="Text 8"/>
          <p:cNvSpPr/>
          <p:nvPr/>
        </p:nvSpPr>
        <p:spPr>
          <a:xfrm>
            <a:off x="4343400" y="5029200"/>
            <a:ext cx="6766560" cy="548640"/>
          </a:xfrm>
          <a:prstGeom prst="rect">
            <a:avLst/>
          </a:prstGeom>
          <a:noFill/>
          <a:ln/>
        </p:spPr>
        <p:txBody>
          <a:bodyPr wrap="square" lIns="0" tIns="0" rIns="0" bIns="0" rtlCol="0" anchor="ctr"/>
          <a:lstStyle/>
          <a:p>
            <a:pPr indent="0" marL="0">
              <a:buNone/>
            </a:pPr>
            <a:r>
              <a:rPr lang="en-US" sz="1500" b="1" dirty="0">
                <a:solidFill>
                  <a:srgbClr val="1E2761"/>
                </a:solidFill>
                <a:latin typeface="Courier New" pitchFamily="34" charset="0"/>
                <a:ea typeface="Courier New" pitchFamily="34" charset="-122"/>
                <a:cs typeface="Courier New" pitchFamily="34" charset="-120"/>
              </a:rPr>
              <a:t>deploy:  needs: test   </a:t>
            </a:r>
            <a:pPr indent="0" marL="0">
              <a:buNone/>
            </a:pPr>
            <a:r>
              <a:rPr lang="en-US" sz="1500" i="1" dirty="0">
                <a:solidFill>
                  <a:srgbClr val="4F6DF5"/>
                </a:solidFill>
                <a:latin typeface="Arial" pitchFamily="34" charset="0"/>
                <a:ea typeface="Arial" pitchFamily="34" charset="-122"/>
                <a:cs typeface="Arial" pitchFamily="34" charset="-120"/>
              </a:rPr>
              <a:t>→  ohne grüne Tests kein Deployment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Docker: klein, sauber, überall gleich</a:t>
            </a:r>
            <a:endParaRPr lang="en-US" sz="3400" dirty="0"/>
          </a:p>
        </p:txBody>
      </p:sp>
      <p:sp>
        <p:nvSpPr>
          <p:cNvPr id="3" name="Shape 1"/>
          <p:cNvSpPr/>
          <p:nvPr/>
        </p:nvSpPr>
        <p:spPr>
          <a:xfrm>
            <a:off x="777240" y="1737360"/>
            <a:ext cx="4846320" cy="2834640"/>
          </a:xfrm>
          <a:prstGeom prst="roundRect">
            <a:avLst>
              <a:gd name="adj" fmla="val 3871"/>
            </a:avLst>
          </a:prstGeom>
          <a:solidFill>
            <a:srgbClr val="F4F6FD"/>
          </a:solidFill>
          <a:ln/>
        </p:spPr>
      </p:sp>
      <p:sp>
        <p:nvSpPr>
          <p:cNvPr id="4" name="Text 2"/>
          <p:cNvSpPr/>
          <p:nvPr/>
        </p:nvSpPr>
        <p:spPr>
          <a:xfrm>
            <a:off x="1143000" y="1965960"/>
            <a:ext cx="4114800" cy="457200"/>
          </a:xfrm>
          <a:prstGeom prst="rect">
            <a:avLst/>
          </a:prstGeom>
          <a:noFill/>
          <a:ln/>
        </p:spPr>
        <p:txBody>
          <a:bodyPr wrap="square" lIns="0" tIns="0" rIns="0" bIns="0" rtlCol="0" anchor="ctr"/>
          <a:lstStyle/>
          <a:p>
            <a:pPr indent="0" marL="0">
              <a:buNone/>
            </a:pPr>
            <a:r>
              <a:rPr lang="en-US" sz="1800" b="1" dirty="0">
                <a:solidFill>
                  <a:srgbClr val="222838"/>
                </a:solidFill>
                <a:latin typeface="Arial" pitchFamily="34" charset="0"/>
                <a:ea typeface="Arial" pitchFamily="34" charset="-122"/>
                <a:cs typeface="Arial" pitchFamily="34" charset="-120"/>
              </a:rPr>
              <a:t>Stufe 1 · Bauen</a:t>
            </a:r>
            <a:endParaRPr lang="en-US" sz="1800" dirty="0"/>
          </a:p>
        </p:txBody>
      </p:sp>
      <p:sp>
        <p:nvSpPr>
          <p:cNvPr id="5" name="Text 3"/>
          <p:cNvSpPr/>
          <p:nvPr/>
        </p:nvSpPr>
        <p:spPr>
          <a:xfrm>
            <a:off x="1143000" y="2514600"/>
            <a:ext cx="420624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5A6172"/>
                </a:solidFill>
                <a:latin typeface="Arial" pitchFamily="34" charset="0"/>
                <a:ea typeface="Arial" pitchFamily="34" charset="-122"/>
                <a:cs typeface="Arial" pitchFamily="34" charset="-120"/>
              </a:rPr>
              <a:t>Node-Image kompiliert die React-App</a:t>
            </a:r>
            <a:endParaRPr lang="en-US" sz="1400" dirty="0"/>
          </a:p>
          <a:p>
            <a:pPr marL="342900" indent="-342900">
              <a:spcAft>
                <a:spcPts val="800"/>
              </a:spcAft>
              <a:buSzPct val="100000"/>
              <a:buChar char="•"/>
            </a:pPr>
            <a:r>
              <a:rPr lang="en-US" sz="1400" dirty="0">
                <a:solidFill>
                  <a:srgbClr val="5A6172"/>
                </a:solidFill>
                <a:latin typeface="Arial" pitchFamily="34" charset="0"/>
                <a:ea typeface="Arial" pitchFamily="34" charset="-122"/>
                <a:cs typeface="Arial" pitchFamily="34" charset="-120"/>
              </a:rPr>
              <a:t>Ergebnis: fertige statische Dateien</a:t>
            </a:r>
            <a:endParaRPr lang="en-US" sz="1400" dirty="0"/>
          </a:p>
        </p:txBody>
      </p:sp>
      <p:sp>
        <p:nvSpPr>
          <p:cNvPr id="6" name="Text 4"/>
          <p:cNvSpPr/>
          <p:nvPr/>
        </p:nvSpPr>
        <p:spPr>
          <a:xfrm>
            <a:off x="5715000" y="2834640"/>
            <a:ext cx="640080" cy="640080"/>
          </a:xfrm>
          <a:prstGeom prst="rect">
            <a:avLst/>
          </a:prstGeom>
          <a:noFill/>
          <a:ln/>
        </p:spPr>
        <p:txBody>
          <a:bodyPr wrap="square" lIns="0" tIns="0" rIns="0" bIns="0" rtlCol="0" anchor="ctr"/>
          <a:lstStyle/>
          <a:p>
            <a:pPr algn="ctr" indent="0" marL="0">
              <a:buNone/>
            </a:pPr>
            <a:r>
              <a:rPr lang="en-US" sz="3200" b="1" dirty="0">
                <a:solidFill>
                  <a:srgbClr val="4F6DF5"/>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446520" y="1737360"/>
            <a:ext cx="4846320" cy="2834640"/>
          </a:xfrm>
          <a:prstGeom prst="roundRect">
            <a:avLst>
              <a:gd name="adj" fmla="val 3871"/>
            </a:avLst>
          </a:prstGeom>
          <a:solidFill>
            <a:srgbClr val="1E2761"/>
          </a:solidFill>
          <a:ln/>
        </p:spPr>
      </p:sp>
      <p:sp>
        <p:nvSpPr>
          <p:cNvPr id="8" name="Text 6"/>
          <p:cNvSpPr/>
          <p:nvPr/>
        </p:nvSpPr>
        <p:spPr>
          <a:xfrm>
            <a:off x="6812280" y="1965960"/>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Stufe 2 · Ausliefern</a:t>
            </a:r>
            <a:endParaRPr lang="en-US" sz="1800" dirty="0"/>
          </a:p>
        </p:txBody>
      </p:sp>
      <p:sp>
        <p:nvSpPr>
          <p:cNvPr id="9" name="Text 7"/>
          <p:cNvSpPr/>
          <p:nvPr/>
        </p:nvSpPr>
        <p:spPr>
          <a:xfrm>
            <a:off x="6812280" y="2514600"/>
            <a:ext cx="4206240" cy="17373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ADCFC"/>
                </a:solidFill>
                <a:latin typeface="Arial" pitchFamily="34" charset="0"/>
                <a:ea typeface="Arial" pitchFamily="34" charset="-122"/>
                <a:cs typeface="Arial" pitchFamily="34" charset="-120"/>
              </a:rPr>
              <a:t>Nur Nginx + die fertigen Dateien</a:t>
            </a:r>
            <a:endParaRPr lang="en-US" sz="1400" dirty="0"/>
          </a:p>
          <a:p>
            <a:pPr marL="342900" indent="-342900">
              <a:spcAft>
                <a:spcPts val="800"/>
              </a:spcAft>
              <a:buSzPct val="100000"/>
              <a:buChar char="•"/>
            </a:pPr>
            <a:r>
              <a:rPr lang="en-US" sz="1400" dirty="0">
                <a:solidFill>
                  <a:srgbClr val="CADCFC"/>
                </a:solidFill>
                <a:latin typeface="Arial" pitchFamily="34" charset="0"/>
                <a:ea typeface="Arial" pitchFamily="34" charset="-122"/>
                <a:cs typeface="Arial" pitchFamily="34" charset="-120"/>
              </a:rPr>
              <a:t>Kein Node, kein Quellcode im Image</a:t>
            </a:r>
            <a:endParaRPr lang="en-US" sz="1400" dirty="0"/>
          </a:p>
          <a:p>
            <a:pPr marL="342900" indent="-342900">
              <a:spcAft>
                <a:spcPts val="800"/>
              </a:spcAft>
              <a:buSzPct val="100000"/>
              <a:buChar char="•"/>
            </a:pPr>
            <a:r>
              <a:rPr lang="en-US" sz="1400" dirty="0">
                <a:solidFill>
                  <a:srgbClr val="CADCFC"/>
                </a:solidFill>
                <a:latin typeface="Arial" pitchFamily="34" charset="0"/>
                <a:ea typeface="Arial" pitchFamily="34" charset="-122"/>
                <a:cs typeface="Arial" pitchFamily="34" charset="-120"/>
              </a:rPr>
              <a:t>Backend läuft ohne Root-Rechte</a:t>
            </a:r>
            <a:endParaRPr lang="en-US" sz="1400" dirty="0"/>
          </a:p>
        </p:txBody>
      </p:sp>
      <p:sp>
        <p:nvSpPr>
          <p:cNvPr id="10" name="Shape 8"/>
          <p:cNvSpPr/>
          <p:nvPr/>
        </p:nvSpPr>
        <p:spPr>
          <a:xfrm>
            <a:off x="777240" y="4983480"/>
            <a:ext cx="10515600" cy="1051560"/>
          </a:xfrm>
          <a:prstGeom prst="roundRect">
            <a:avLst>
              <a:gd name="adj" fmla="val 10435"/>
            </a:avLst>
          </a:prstGeom>
          <a:solidFill>
            <a:srgbClr val="F4F6FD"/>
          </a:solidFill>
          <a:ln/>
        </p:spPr>
      </p:sp>
      <p:sp>
        <p:nvSpPr>
          <p:cNvPr id="11" name="Shape 9"/>
          <p:cNvSpPr/>
          <p:nvPr/>
        </p:nvSpPr>
        <p:spPr>
          <a:xfrm>
            <a:off x="1051560" y="5138928"/>
            <a:ext cx="731520" cy="731520"/>
          </a:xfrm>
          <a:prstGeom prst="ellipse">
            <a:avLst/>
          </a:prstGeom>
          <a:solidFill>
            <a:srgbClr val="4F6DF5"/>
          </a:solidFill>
          <a:ln/>
        </p:spPr>
      </p:sp>
      <p:pic>
        <p:nvPicPr>
          <p:cNvPr id="12" name="Image 0" descr="preencoded.png">    </p:cNvPr>
          <p:cNvPicPr>
            <a:picLocks noChangeAspect="1"/>
          </p:cNvPicPr>
          <p:nvPr/>
        </p:nvPicPr>
        <p:blipFill>
          <a:blip r:embed="rId1"/>
          <a:stretch>
            <a:fillRect/>
          </a:stretch>
        </p:blipFill>
        <p:spPr>
          <a:xfrm>
            <a:off x="1241755" y="5329123"/>
            <a:ext cx="351130" cy="351130"/>
          </a:xfrm>
          <a:prstGeom prst="rect">
            <a:avLst/>
          </a:prstGeom>
        </p:spPr>
      </p:pic>
      <p:sp>
        <p:nvSpPr>
          <p:cNvPr id="13" name="Text 10"/>
          <p:cNvSpPr/>
          <p:nvPr/>
        </p:nvSpPr>
        <p:spPr>
          <a:xfrm>
            <a:off x="1965960" y="5230368"/>
            <a:ext cx="9144000" cy="548640"/>
          </a:xfrm>
          <a:prstGeom prst="rect">
            <a:avLst/>
          </a:prstGeom>
          <a:noFill/>
          <a:ln/>
        </p:spPr>
        <p:txBody>
          <a:bodyPr wrap="square" lIns="0" tIns="0" rIns="0" bIns="0" rtlCol="0" anchor="ctr"/>
          <a:lstStyle/>
          <a:p>
            <a:pPr indent="0" marL="0">
              <a:buNone/>
            </a:pPr>
            <a:r>
              <a:rPr lang="en-US" sz="1500" dirty="0">
                <a:solidFill>
                  <a:srgbClr val="5A6172"/>
                </a:solidFill>
                <a:latin typeface="Arial" pitchFamily="34" charset="0"/>
                <a:ea typeface="Arial" pitchFamily="34" charset="-122"/>
                <a:cs typeface="Arial" pitchFamily="34" charset="-120"/>
              </a:rPr>
              <a:t>Ein Befehl, kompletter Stack:  </a:t>
            </a:r>
            <a:pPr indent="0" marL="0">
              <a:buNone/>
            </a:pPr>
            <a:r>
              <a:rPr lang="en-US" sz="1500" b="1" dirty="0">
                <a:solidFill>
                  <a:srgbClr val="1E2761"/>
                </a:solidFill>
                <a:latin typeface="Courier New" pitchFamily="34" charset="0"/>
                <a:ea typeface="Courier New" pitchFamily="34" charset="-122"/>
                <a:cs typeface="Courier New" pitchFamily="34" charset="-120"/>
              </a:rPr>
              <a:t>docker compose up</a:t>
            </a:r>
            <a:pPr indent="0" marL="0">
              <a:buNone/>
            </a:pPr>
            <a:r>
              <a:rPr lang="en-US" sz="1500" dirty="0">
                <a:solidFill>
                  <a:srgbClr val="5A6172"/>
                </a:solidFill>
                <a:latin typeface="Arial" pitchFamily="34" charset="0"/>
                <a:ea typeface="Arial" pitchFamily="34" charset="-122"/>
                <a:cs typeface="Arial" pitchFamily="34" charset="-120"/>
              </a:rPr>
              <a:t>  – lokal exakt wie später auf dem Server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Infrastruktur als Code (Terraform)</a:t>
            </a:r>
            <a:endParaRPr lang="en-US" sz="3400" dirty="0"/>
          </a:p>
        </p:txBody>
      </p:sp>
      <p:sp>
        <p:nvSpPr>
          <p:cNvPr id="3" name="Shape 1"/>
          <p:cNvSpPr/>
          <p:nvPr/>
        </p:nvSpPr>
        <p:spPr>
          <a:xfrm>
            <a:off x="777240" y="1737360"/>
            <a:ext cx="6583680" cy="4206240"/>
          </a:xfrm>
          <a:prstGeom prst="roundRect">
            <a:avLst>
              <a:gd name="adj" fmla="val 2609"/>
            </a:avLst>
          </a:prstGeom>
          <a:solidFill>
            <a:srgbClr val="F4F6FD"/>
          </a:solidFill>
          <a:ln/>
        </p:spPr>
      </p:sp>
      <p:sp>
        <p:nvSpPr>
          <p:cNvPr id="4" name="Text 2"/>
          <p:cNvSpPr/>
          <p:nvPr/>
        </p:nvSpPr>
        <p:spPr>
          <a:xfrm>
            <a:off x="1051560" y="1920240"/>
            <a:ext cx="6035040" cy="365760"/>
          </a:xfrm>
          <a:prstGeom prst="rect">
            <a:avLst/>
          </a:prstGeom>
          <a:noFill/>
          <a:ln/>
        </p:spPr>
        <p:txBody>
          <a:bodyPr wrap="square" lIns="0" tIns="0" rIns="0" bIns="0" rtlCol="0" anchor="ctr"/>
          <a:lstStyle/>
          <a:p>
            <a:pPr indent="0" marL="0">
              <a:buNone/>
            </a:pPr>
            <a:r>
              <a:rPr lang="en-US" sz="1300" b="1" dirty="0">
                <a:solidFill>
                  <a:srgbClr val="5A6172"/>
                </a:solidFill>
                <a:latin typeface="Arial" pitchFamily="34" charset="0"/>
                <a:ea typeface="Arial" pitchFamily="34" charset="-122"/>
                <a:cs typeface="Arial" pitchFamily="34" charset="-120"/>
              </a:rPr>
              <a:t>VPC – eigenes privates Netzwerk</a:t>
            </a:r>
            <a:endParaRPr lang="en-US" sz="1300" dirty="0"/>
          </a:p>
        </p:txBody>
      </p:sp>
      <p:sp>
        <p:nvSpPr>
          <p:cNvPr id="5" name="Shape 3"/>
          <p:cNvSpPr/>
          <p:nvPr/>
        </p:nvSpPr>
        <p:spPr>
          <a:xfrm>
            <a:off x="1051560" y="2377440"/>
            <a:ext cx="6035040" cy="3291840"/>
          </a:xfrm>
          <a:prstGeom prst="roundRect">
            <a:avLst>
              <a:gd name="adj" fmla="val 2778"/>
            </a:avLst>
          </a:prstGeom>
          <a:solidFill>
            <a:srgbClr val="CADCFC"/>
          </a:solidFill>
          <a:ln/>
        </p:spPr>
      </p:sp>
      <p:sp>
        <p:nvSpPr>
          <p:cNvPr id="6" name="Text 4"/>
          <p:cNvSpPr/>
          <p:nvPr/>
        </p:nvSpPr>
        <p:spPr>
          <a:xfrm>
            <a:off x="1325880" y="2560320"/>
            <a:ext cx="5486400" cy="365760"/>
          </a:xfrm>
          <a:prstGeom prst="rect">
            <a:avLst/>
          </a:prstGeom>
          <a:noFill/>
          <a:ln/>
        </p:spPr>
        <p:txBody>
          <a:bodyPr wrap="square" lIns="0" tIns="0" rIns="0" bIns="0" rtlCol="0" anchor="ctr"/>
          <a:lstStyle/>
          <a:p>
            <a:pPr indent="0" marL="0">
              <a:buNone/>
            </a:pPr>
            <a:r>
              <a:rPr lang="en-US" sz="1300" b="1" dirty="0">
                <a:solidFill>
                  <a:srgbClr val="1E2761"/>
                </a:solidFill>
                <a:latin typeface="Arial" pitchFamily="34" charset="0"/>
                <a:ea typeface="Arial" pitchFamily="34" charset="-122"/>
                <a:cs typeface="Arial" pitchFamily="34" charset="-120"/>
              </a:rPr>
              <a:t>Öffentliches Subnetz + Internet-Zugang</a:t>
            </a:r>
            <a:endParaRPr lang="en-US" sz="1300" dirty="0"/>
          </a:p>
        </p:txBody>
      </p:sp>
      <p:sp>
        <p:nvSpPr>
          <p:cNvPr id="7" name="Shape 5"/>
          <p:cNvSpPr/>
          <p:nvPr/>
        </p:nvSpPr>
        <p:spPr>
          <a:xfrm>
            <a:off x="1325880" y="3017520"/>
            <a:ext cx="5486400" cy="2377440"/>
          </a:xfrm>
          <a:prstGeom prst="roundRect">
            <a:avLst>
              <a:gd name="adj" fmla="val 3846"/>
            </a:avLst>
          </a:prstGeom>
          <a:solidFill>
            <a:srgbClr val="1E2761"/>
          </a:solidFill>
          <a:ln/>
        </p:spPr>
      </p:sp>
      <p:sp>
        <p:nvSpPr>
          <p:cNvPr id="8" name="Shape 6"/>
          <p:cNvSpPr/>
          <p:nvPr/>
        </p:nvSpPr>
        <p:spPr>
          <a:xfrm>
            <a:off x="1645920" y="3337560"/>
            <a:ext cx="822960" cy="822960"/>
          </a:xfrm>
          <a:prstGeom prst="ellipse">
            <a:avLst/>
          </a:prstGeom>
          <a:solidFill>
            <a:srgbClr val="4F6DF5"/>
          </a:solidFill>
          <a:ln/>
        </p:spPr>
      </p:sp>
      <p:pic>
        <p:nvPicPr>
          <p:cNvPr id="9" name="Image 0" descr="preencoded.png">    </p:cNvPr>
          <p:cNvPicPr>
            <a:picLocks noChangeAspect="1"/>
          </p:cNvPicPr>
          <p:nvPr/>
        </p:nvPicPr>
        <p:blipFill>
          <a:blip r:embed="rId1"/>
          <a:stretch>
            <a:fillRect/>
          </a:stretch>
        </p:blipFill>
        <p:spPr>
          <a:xfrm>
            <a:off x="1859890" y="3551530"/>
            <a:ext cx="395021" cy="395021"/>
          </a:xfrm>
          <a:prstGeom prst="rect">
            <a:avLst/>
          </a:prstGeom>
        </p:spPr>
      </p:pic>
      <p:sp>
        <p:nvSpPr>
          <p:cNvPr id="10" name="Text 7"/>
          <p:cNvSpPr/>
          <p:nvPr/>
        </p:nvSpPr>
        <p:spPr>
          <a:xfrm>
            <a:off x="2697480" y="3383280"/>
            <a:ext cx="393192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EC2 t3.micro (Free Tier)</a:t>
            </a:r>
            <a:endParaRPr lang="en-US" sz="1600" dirty="0"/>
          </a:p>
        </p:txBody>
      </p:sp>
      <p:sp>
        <p:nvSpPr>
          <p:cNvPr id="11" name="Text 8"/>
          <p:cNvSpPr/>
          <p:nvPr/>
        </p:nvSpPr>
        <p:spPr>
          <a:xfrm>
            <a:off x="2697480" y="3886200"/>
            <a:ext cx="3931920" cy="1280160"/>
          </a:xfrm>
          <a:prstGeom prst="rect">
            <a:avLst/>
          </a:prstGeom>
          <a:noFill/>
          <a:ln/>
        </p:spPr>
        <p:txBody>
          <a:bodyPr wrap="square" lIns="0" tIns="0" rIns="0" bIns="0" rtlCol="0" anchor="ctr"/>
          <a:lstStyle/>
          <a:p>
            <a:pPr indent="0" marL="0">
              <a:buNone/>
            </a:pPr>
            <a:r>
              <a:rPr lang="en-US" sz="1300" dirty="0">
                <a:solidFill>
                  <a:srgbClr val="CADCFC"/>
                </a:solidFill>
                <a:latin typeface="Arial" pitchFamily="34" charset="0"/>
                <a:ea typeface="Arial" pitchFamily="34" charset="-122"/>
                <a:cs typeface="Arial" pitchFamily="34" charset="-120"/>
              </a:rPr>
              <a:t>Ubuntu · installiert sich Docker selbst · Security Group: nur Port 80 + SSH</a:t>
            </a:r>
            <a:endParaRPr lang="en-US" sz="1300" dirty="0"/>
          </a:p>
        </p:txBody>
      </p:sp>
      <p:sp>
        <p:nvSpPr>
          <p:cNvPr id="12" name="Shape 9"/>
          <p:cNvSpPr/>
          <p:nvPr/>
        </p:nvSpPr>
        <p:spPr>
          <a:xfrm>
            <a:off x="7726680" y="1737360"/>
            <a:ext cx="3657600" cy="1965960"/>
          </a:xfrm>
          <a:prstGeom prst="roundRect">
            <a:avLst>
              <a:gd name="adj" fmla="val 5581"/>
            </a:avLst>
          </a:prstGeom>
          <a:solidFill>
            <a:srgbClr val="F4F6FD"/>
          </a:solidFill>
          <a:ln/>
        </p:spPr>
      </p:sp>
      <p:sp>
        <p:nvSpPr>
          <p:cNvPr id="13" name="Shape 10"/>
          <p:cNvSpPr/>
          <p:nvPr/>
        </p:nvSpPr>
        <p:spPr>
          <a:xfrm>
            <a:off x="8001000" y="1965960"/>
            <a:ext cx="640080" cy="640080"/>
          </a:xfrm>
          <a:prstGeom prst="ellipse">
            <a:avLst/>
          </a:prstGeom>
          <a:solidFill>
            <a:srgbClr val="1E2761"/>
          </a:solidFill>
          <a:ln/>
        </p:spPr>
      </p:sp>
      <p:pic>
        <p:nvPicPr>
          <p:cNvPr id="14" name="Image 1" descr="preencoded.png">    </p:cNvPr>
          <p:cNvPicPr>
            <a:picLocks noChangeAspect="1"/>
          </p:cNvPicPr>
          <p:nvPr/>
        </p:nvPicPr>
        <p:blipFill>
          <a:blip r:embed="rId2"/>
          <a:stretch>
            <a:fillRect/>
          </a:stretch>
        </p:blipFill>
        <p:spPr>
          <a:xfrm>
            <a:off x="8167421" y="2132381"/>
            <a:ext cx="307238" cy="307238"/>
          </a:xfrm>
          <a:prstGeom prst="rect">
            <a:avLst/>
          </a:prstGeom>
        </p:spPr>
      </p:pic>
      <p:sp>
        <p:nvSpPr>
          <p:cNvPr id="15" name="Text 11"/>
          <p:cNvSpPr/>
          <p:nvPr/>
        </p:nvSpPr>
        <p:spPr>
          <a:xfrm>
            <a:off x="8778240" y="2011680"/>
            <a:ext cx="2560320" cy="548640"/>
          </a:xfrm>
          <a:prstGeom prst="rect">
            <a:avLst/>
          </a:prstGeom>
          <a:noFill/>
          <a:ln/>
        </p:spPr>
        <p:txBody>
          <a:bodyPr wrap="square" lIns="0" tIns="0" rIns="0" bIns="0" rtlCol="0" anchor="ctr"/>
          <a:lstStyle/>
          <a:p>
            <a:pPr indent="0" marL="0">
              <a:buNone/>
            </a:pPr>
            <a:r>
              <a:rPr lang="en-US" sz="1500" b="1" dirty="0">
                <a:solidFill>
                  <a:srgbClr val="222838"/>
                </a:solidFill>
                <a:latin typeface="Arial" pitchFamily="34" charset="0"/>
                <a:ea typeface="Arial" pitchFamily="34" charset="-122"/>
                <a:cs typeface="Arial" pitchFamily="34" charset="-120"/>
              </a:rPr>
              <a:t>Remote State in S3</a:t>
            </a:r>
            <a:endParaRPr lang="en-US" sz="1500" dirty="0"/>
          </a:p>
        </p:txBody>
      </p:sp>
      <p:sp>
        <p:nvSpPr>
          <p:cNvPr id="16" name="Text 12"/>
          <p:cNvSpPr/>
          <p:nvPr/>
        </p:nvSpPr>
        <p:spPr>
          <a:xfrm>
            <a:off x="8001000" y="2697480"/>
            <a:ext cx="3200400" cy="914400"/>
          </a:xfrm>
          <a:prstGeom prst="rect">
            <a:avLst/>
          </a:prstGeom>
          <a:noFill/>
          <a:ln/>
        </p:spPr>
        <p:txBody>
          <a:bodyPr wrap="square" lIns="0" tIns="0" rIns="0" bIns="0" rtlCol="0" anchor="ctr"/>
          <a:lstStyle/>
          <a:p>
            <a:pPr indent="0" marL="0">
              <a:buNone/>
            </a:pPr>
            <a:r>
              <a:rPr lang="en-US" sz="1200" dirty="0">
                <a:solidFill>
                  <a:srgbClr val="5A6172"/>
                </a:solidFill>
                <a:latin typeface="Arial" pitchFamily="34" charset="0"/>
                <a:ea typeface="Arial" pitchFamily="34" charset="-122"/>
                <a:cs typeface="Arial" pitchFamily="34" charset="-120"/>
              </a:rPr>
              <a:t>Terraforms „Gedächtnis“ liegt zentral – Laptop und Pipeline sehen denselben Stand.</a:t>
            </a:r>
            <a:endParaRPr lang="en-US" sz="1200" dirty="0"/>
          </a:p>
        </p:txBody>
      </p:sp>
      <p:sp>
        <p:nvSpPr>
          <p:cNvPr id="17" name="Shape 13"/>
          <p:cNvSpPr/>
          <p:nvPr/>
        </p:nvSpPr>
        <p:spPr>
          <a:xfrm>
            <a:off x="7726680" y="3977640"/>
            <a:ext cx="3657600" cy="1965960"/>
          </a:xfrm>
          <a:prstGeom prst="roundRect">
            <a:avLst>
              <a:gd name="adj" fmla="val 5581"/>
            </a:avLst>
          </a:prstGeom>
          <a:solidFill>
            <a:srgbClr val="F4F6FD"/>
          </a:solidFill>
          <a:ln/>
        </p:spPr>
      </p:sp>
      <p:sp>
        <p:nvSpPr>
          <p:cNvPr id="18" name="Shape 14"/>
          <p:cNvSpPr/>
          <p:nvPr/>
        </p:nvSpPr>
        <p:spPr>
          <a:xfrm>
            <a:off x="8001000" y="4206240"/>
            <a:ext cx="640080" cy="640080"/>
          </a:xfrm>
          <a:prstGeom prst="ellipse">
            <a:avLst/>
          </a:prstGeom>
          <a:solidFill>
            <a:srgbClr val="2E9E5B"/>
          </a:solidFill>
          <a:ln/>
        </p:spPr>
      </p:sp>
      <p:pic>
        <p:nvPicPr>
          <p:cNvPr id="19" name="Image 2" descr="preencoded.png">    </p:cNvPr>
          <p:cNvPicPr>
            <a:picLocks noChangeAspect="1"/>
          </p:cNvPicPr>
          <p:nvPr/>
        </p:nvPicPr>
        <p:blipFill>
          <a:blip r:embed="rId3"/>
          <a:stretch>
            <a:fillRect/>
          </a:stretch>
        </p:blipFill>
        <p:spPr>
          <a:xfrm>
            <a:off x="8167421" y="4372661"/>
            <a:ext cx="307238" cy="307238"/>
          </a:xfrm>
          <a:prstGeom prst="rect">
            <a:avLst/>
          </a:prstGeom>
        </p:spPr>
      </p:pic>
      <p:sp>
        <p:nvSpPr>
          <p:cNvPr id="20" name="Text 15"/>
          <p:cNvSpPr/>
          <p:nvPr/>
        </p:nvSpPr>
        <p:spPr>
          <a:xfrm>
            <a:off x="8778240" y="4251960"/>
            <a:ext cx="2560320" cy="548640"/>
          </a:xfrm>
          <a:prstGeom prst="rect">
            <a:avLst/>
          </a:prstGeom>
          <a:noFill/>
          <a:ln/>
        </p:spPr>
        <p:txBody>
          <a:bodyPr wrap="square" lIns="0" tIns="0" rIns="0" bIns="0" rtlCol="0" anchor="ctr"/>
          <a:lstStyle/>
          <a:p>
            <a:pPr indent="0" marL="0">
              <a:buNone/>
            </a:pPr>
            <a:r>
              <a:rPr lang="en-US" sz="1500" b="1" dirty="0">
                <a:solidFill>
                  <a:srgbClr val="222838"/>
                </a:solidFill>
                <a:latin typeface="Arial" pitchFamily="34" charset="0"/>
                <a:ea typeface="Arial" pitchFamily="34" charset="-122"/>
                <a:cs typeface="Arial" pitchFamily="34" charset="-120"/>
              </a:rPr>
              <a:t>Kosten im Griff</a:t>
            </a:r>
            <a:endParaRPr lang="en-US" sz="1500" dirty="0"/>
          </a:p>
        </p:txBody>
      </p:sp>
      <p:sp>
        <p:nvSpPr>
          <p:cNvPr id="21" name="Text 16"/>
          <p:cNvSpPr/>
          <p:nvPr/>
        </p:nvSpPr>
        <p:spPr>
          <a:xfrm>
            <a:off x="8001000" y="4937760"/>
            <a:ext cx="3200400" cy="914400"/>
          </a:xfrm>
          <a:prstGeom prst="rect">
            <a:avLst/>
          </a:prstGeom>
          <a:noFill/>
          <a:ln/>
        </p:spPr>
        <p:txBody>
          <a:bodyPr wrap="square" lIns="0" tIns="0" rIns="0" bIns="0" rtlCol="0" anchor="ctr"/>
          <a:lstStyle/>
          <a:p>
            <a:pPr indent="0" marL="0">
              <a:buNone/>
            </a:pPr>
            <a:r>
              <a:rPr lang="en-US" sz="1200" dirty="0">
                <a:solidFill>
                  <a:srgbClr val="5A6172"/>
                </a:solidFill>
                <a:latin typeface="Arial" pitchFamily="34" charset="0"/>
                <a:ea typeface="Arial" pitchFamily="34" charset="-122"/>
                <a:cs typeface="Arial" pitchFamily="34" charset="-120"/>
              </a:rPr>
              <a:t>Free Tier + terraform destroy: Übungs-Infrastruktur wird komplett abgebaut.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Ehrliche Hürden – und was ich gelernt habe</a:t>
            </a:r>
            <a:endParaRPr lang="en-US" sz="3400" dirty="0"/>
          </a:p>
        </p:txBody>
      </p:sp>
      <p:sp>
        <p:nvSpPr>
          <p:cNvPr id="3" name="Shape 1"/>
          <p:cNvSpPr/>
          <p:nvPr/>
        </p:nvSpPr>
        <p:spPr>
          <a:xfrm>
            <a:off x="868680" y="1764792"/>
            <a:ext cx="685800" cy="685800"/>
          </a:xfrm>
          <a:prstGeom prst="ellipse">
            <a:avLst/>
          </a:prstGeom>
          <a:solidFill>
            <a:srgbClr val="B58900"/>
          </a:solidFill>
          <a:ln/>
        </p:spPr>
      </p:sp>
      <p:pic>
        <p:nvPicPr>
          <p:cNvPr id="4" name="Image 0" descr="preencoded.png">    </p:cNvPr>
          <p:cNvPicPr>
            <a:picLocks noChangeAspect="1"/>
          </p:cNvPicPr>
          <p:nvPr/>
        </p:nvPicPr>
        <p:blipFill>
          <a:blip r:embed="rId1"/>
          <a:stretch>
            <a:fillRect/>
          </a:stretch>
        </p:blipFill>
        <p:spPr>
          <a:xfrm>
            <a:off x="1046988" y="1943100"/>
            <a:ext cx="329184" cy="329184"/>
          </a:xfrm>
          <a:prstGeom prst="rect">
            <a:avLst/>
          </a:prstGeom>
        </p:spPr>
      </p:pic>
      <p:sp>
        <p:nvSpPr>
          <p:cNvPr id="5" name="Text 2"/>
          <p:cNvSpPr/>
          <p:nvPr/>
        </p:nvSpPr>
        <p:spPr>
          <a:xfrm>
            <a:off x="1874520" y="1600200"/>
            <a:ext cx="9418320" cy="45720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Doppelpunkt im Laufwerksnamen</a:t>
            </a:r>
            <a:endParaRPr lang="en-US" sz="1700" dirty="0"/>
          </a:p>
        </p:txBody>
      </p:sp>
      <p:sp>
        <p:nvSpPr>
          <p:cNvPr id="6" name="Text 3"/>
          <p:cNvSpPr/>
          <p:nvPr/>
        </p:nvSpPr>
        <p:spPr>
          <a:xfrm>
            <a:off x="1874520" y="2057400"/>
            <a:ext cx="9418320" cy="914400"/>
          </a:xfrm>
          <a:prstGeom prst="rect">
            <a:avLst/>
          </a:prstGeom>
          <a:noFill/>
          <a:ln/>
        </p:spPr>
        <p:txBody>
          <a:bodyPr wrap="square" lIns="0" tIns="0" rIns="0" bIns="0" rtlCol="0" anchor="ctr"/>
          <a:lstStyle/>
          <a:p>
            <a:pPr indent="0" marL="0">
              <a:buNone/>
            </a:pPr>
            <a:r>
              <a:rPr lang="en-US" sz="1350" dirty="0">
                <a:solidFill>
                  <a:srgbClr val="5A6172"/>
                </a:solidFill>
                <a:latin typeface="Arial" pitchFamily="34" charset="0"/>
                <a:ea typeface="Arial" pitchFamily="34" charset="-122"/>
                <a:cs typeface="Arial" pitchFamily="34" charset="-120"/>
              </a:rPr>
              <a:t>Mein Projektordner „Speicher: Macbook“ brach venv, npm und Vite – „:“ ist unter Unix das PATH-Trennzeichen. Lösung: venv außerhalb, Vite direkt über node starten.</a:t>
            </a:r>
            <a:endParaRPr lang="en-US" sz="1350" dirty="0"/>
          </a:p>
        </p:txBody>
      </p:sp>
      <p:sp>
        <p:nvSpPr>
          <p:cNvPr id="7" name="Shape 4"/>
          <p:cNvSpPr/>
          <p:nvPr/>
        </p:nvSpPr>
        <p:spPr>
          <a:xfrm>
            <a:off x="868680" y="3273552"/>
            <a:ext cx="685800" cy="685800"/>
          </a:xfrm>
          <a:prstGeom prst="ellipse">
            <a:avLst/>
          </a:prstGeom>
          <a:solidFill>
            <a:srgbClr val="B58900"/>
          </a:solidFill>
          <a:ln/>
        </p:spPr>
      </p:sp>
      <p:pic>
        <p:nvPicPr>
          <p:cNvPr id="8" name="Image 1" descr="preencoded.png">    </p:cNvPr>
          <p:cNvPicPr>
            <a:picLocks noChangeAspect="1"/>
          </p:cNvPicPr>
          <p:nvPr/>
        </p:nvPicPr>
        <p:blipFill>
          <a:blip r:embed="rId2"/>
          <a:stretch>
            <a:fillRect/>
          </a:stretch>
        </p:blipFill>
        <p:spPr>
          <a:xfrm>
            <a:off x="1046988" y="3451860"/>
            <a:ext cx="329184" cy="329184"/>
          </a:xfrm>
          <a:prstGeom prst="rect">
            <a:avLst/>
          </a:prstGeom>
        </p:spPr>
      </p:pic>
      <p:sp>
        <p:nvSpPr>
          <p:cNvPr id="9" name="Text 5"/>
          <p:cNvSpPr/>
          <p:nvPr/>
        </p:nvSpPr>
        <p:spPr>
          <a:xfrm>
            <a:off x="1874520" y="3108960"/>
            <a:ext cx="9418320" cy="45720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SQLite wurde plötzlich „readonly“</a:t>
            </a:r>
            <a:endParaRPr lang="en-US" sz="1700" dirty="0"/>
          </a:p>
        </p:txBody>
      </p:sp>
      <p:sp>
        <p:nvSpPr>
          <p:cNvPr id="10" name="Text 6"/>
          <p:cNvSpPr/>
          <p:nvPr/>
        </p:nvSpPr>
        <p:spPr>
          <a:xfrm>
            <a:off x="1874520" y="3566160"/>
            <a:ext cx="9418320" cy="914400"/>
          </a:xfrm>
          <a:prstGeom prst="rect">
            <a:avLst/>
          </a:prstGeom>
          <a:noFill/>
          <a:ln/>
        </p:spPr>
        <p:txBody>
          <a:bodyPr wrap="square" lIns="0" tIns="0" rIns="0" bIns="0" rtlCol="0" anchor="ctr"/>
          <a:lstStyle/>
          <a:p>
            <a:pPr indent="0" marL="0">
              <a:buNone/>
            </a:pPr>
            <a:r>
              <a:rPr lang="en-US" sz="1350" dirty="0">
                <a:solidFill>
                  <a:srgbClr val="5A6172"/>
                </a:solidFill>
                <a:latin typeface="Arial" pitchFamily="34" charset="0"/>
                <a:ea typeface="Arial" pitchFamily="34" charset="-122"/>
                <a:cs typeface="Arial" pitchFamily="34" charset="-120"/>
              </a:rPr>
              <a:t>Auf der exFAT-Festplatte verfallen offene Datei-Handles nach ~10 Sekunden. Diagnose per Minimal-Test, Lösung: frische DB-Verbindung pro Request (NullPool).</a:t>
            </a:r>
            <a:endParaRPr lang="en-US" sz="1350" dirty="0"/>
          </a:p>
        </p:txBody>
      </p:sp>
      <p:sp>
        <p:nvSpPr>
          <p:cNvPr id="11" name="Shape 7"/>
          <p:cNvSpPr/>
          <p:nvPr/>
        </p:nvSpPr>
        <p:spPr>
          <a:xfrm>
            <a:off x="868680" y="4782312"/>
            <a:ext cx="685800" cy="685800"/>
          </a:xfrm>
          <a:prstGeom prst="ellipse">
            <a:avLst/>
          </a:prstGeom>
          <a:solidFill>
            <a:srgbClr val="B58900"/>
          </a:solidFill>
          <a:ln/>
        </p:spPr>
      </p:sp>
      <p:pic>
        <p:nvPicPr>
          <p:cNvPr id="12" name="Image 2" descr="preencoded.png">    </p:cNvPr>
          <p:cNvPicPr>
            <a:picLocks noChangeAspect="1"/>
          </p:cNvPicPr>
          <p:nvPr/>
        </p:nvPicPr>
        <p:blipFill>
          <a:blip r:embed="rId3"/>
          <a:stretch>
            <a:fillRect/>
          </a:stretch>
        </p:blipFill>
        <p:spPr>
          <a:xfrm>
            <a:off x="1046988" y="4960620"/>
            <a:ext cx="329184" cy="329184"/>
          </a:xfrm>
          <a:prstGeom prst="rect">
            <a:avLst/>
          </a:prstGeom>
        </p:spPr>
      </p:pic>
      <p:sp>
        <p:nvSpPr>
          <p:cNvPr id="13" name="Text 8"/>
          <p:cNvSpPr/>
          <p:nvPr/>
        </p:nvSpPr>
        <p:spPr>
          <a:xfrm>
            <a:off x="1874520" y="4617720"/>
            <a:ext cx="9418320" cy="457200"/>
          </a:xfrm>
          <a:prstGeom prst="rect">
            <a:avLst/>
          </a:prstGeom>
          <a:noFill/>
          <a:ln/>
        </p:spPr>
        <p:txBody>
          <a:bodyPr wrap="square" lIns="0" tIns="0" rIns="0" bIns="0" rtlCol="0" anchor="ctr"/>
          <a:lstStyle/>
          <a:p>
            <a:pPr indent="0" marL="0">
              <a:buNone/>
            </a:pPr>
            <a:r>
              <a:rPr lang="en-US" sz="1700" b="1" dirty="0">
                <a:solidFill>
                  <a:srgbClr val="222838"/>
                </a:solidFill>
                <a:latin typeface="Arial" pitchFamily="34" charset="0"/>
                <a:ea typeface="Arial" pitchFamily="34" charset="-122"/>
                <a:cs typeface="Arial" pitchFamily="34" charset="-120"/>
              </a:rPr>
              <a:t>Docker-Build brach ab</a:t>
            </a:r>
            <a:endParaRPr lang="en-US" sz="1700" dirty="0"/>
          </a:p>
        </p:txBody>
      </p:sp>
      <p:sp>
        <p:nvSpPr>
          <p:cNvPr id="14" name="Text 9"/>
          <p:cNvSpPr/>
          <p:nvPr/>
        </p:nvSpPr>
        <p:spPr>
          <a:xfrm>
            <a:off x="1874520" y="5074920"/>
            <a:ext cx="9418320" cy="914400"/>
          </a:xfrm>
          <a:prstGeom prst="rect">
            <a:avLst/>
          </a:prstGeom>
          <a:noFill/>
          <a:ln/>
        </p:spPr>
        <p:txBody>
          <a:bodyPr wrap="square" lIns="0" tIns="0" rIns="0" bIns="0" rtlCol="0" anchor="ctr"/>
          <a:lstStyle/>
          <a:p>
            <a:pPr indent="0" marL="0">
              <a:buNone/>
            </a:pPr>
            <a:r>
              <a:rPr lang="en-US" sz="1350" dirty="0">
                <a:solidFill>
                  <a:srgbClr val="5A6172"/>
                </a:solidFill>
                <a:latin typeface="Arial" pitchFamily="34" charset="0"/>
                <a:ea typeface="Arial" pitchFamily="34" charset="-122"/>
                <a:cs typeface="Arial" pitchFamily="34" charset="-120"/>
              </a:rPr>
              <a:t>macOS legt auf exFAT versteckte ._-Dateien an, an denen Docker scheitert – und kopierte Dateien waren im Image nur für root lesbar. Lösung: Aufräum-Script + COPY --chown.</a:t>
            </a:r>
            <a:endParaRPr lang="en-US" sz="1350" dirty="0"/>
          </a:p>
        </p:txBody>
      </p:sp>
      <p:sp>
        <p:nvSpPr>
          <p:cNvPr id="15" name="Text 10"/>
          <p:cNvSpPr/>
          <p:nvPr/>
        </p:nvSpPr>
        <p:spPr>
          <a:xfrm>
            <a:off x="777240" y="6126480"/>
            <a:ext cx="10607040" cy="457200"/>
          </a:xfrm>
          <a:prstGeom prst="rect">
            <a:avLst/>
          </a:prstGeom>
          <a:noFill/>
          <a:ln/>
        </p:spPr>
        <p:txBody>
          <a:bodyPr wrap="square" lIns="0" tIns="0" rIns="0" bIns="0" rtlCol="0" anchor="ctr"/>
          <a:lstStyle/>
          <a:p>
            <a:pPr indent="0" marL="0">
              <a:buNone/>
            </a:pPr>
            <a:r>
              <a:rPr lang="en-US" sz="1500" i="1" dirty="0">
                <a:solidFill>
                  <a:srgbClr val="4F6DF5"/>
                </a:solidFill>
                <a:latin typeface="Arial" pitchFamily="34" charset="0"/>
                <a:ea typeface="Arial" pitchFamily="34" charset="-122"/>
                <a:cs typeface="Arial" pitchFamily="34" charset="-120"/>
              </a:rPr>
              <a:t>Learning: Systematisch eingrenzen, Minimal-Test bauen, Workaround dokumentieren.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502920"/>
            <a:ext cx="10607040" cy="731520"/>
          </a:xfrm>
          <a:prstGeom prst="rect">
            <a:avLst/>
          </a:prstGeom>
          <a:noFill/>
          <a:ln/>
        </p:spPr>
        <p:txBody>
          <a:bodyPr wrap="square" lIns="0" tIns="0" rIns="0" bIns="0" rtlCol="0" anchor="ctr"/>
          <a:lstStyle/>
          <a:p>
            <a:pPr indent="0" marL="0">
              <a:buNone/>
            </a:pPr>
            <a:r>
              <a:rPr lang="en-US" sz="3400" b="1" dirty="0">
                <a:solidFill>
                  <a:srgbClr val="222838"/>
                </a:solidFill>
                <a:latin typeface="Arial" pitchFamily="34" charset="0"/>
                <a:ea typeface="Arial" pitchFamily="34" charset="-122"/>
                <a:cs typeface="Arial" pitchFamily="34" charset="-120"/>
              </a:rPr>
              <a:t>Wo das Projekt heute steht</a:t>
            </a:r>
            <a:endParaRPr lang="en-US" sz="3400" dirty="0"/>
          </a:p>
        </p:txBody>
      </p:sp>
      <p:sp>
        <p:nvSpPr>
          <p:cNvPr id="3" name="Shape 1"/>
          <p:cNvSpPr/>
          <p:nvPr/>
        </p:nvSpPr>
        <p:spPr>
          <a:xfrm>
            <a:off x="777240" y="1600200"/>
            <a:ext cx="5120640" cy="4023360"/>
          </a:xfrm>
          <a:prstGeom prst="roundRect">
            <a:avLst>
              <a:gd name="adj" fmla="val 2727"/>
            </a:avLst>
          </a:prstGeom>
          <a:solidFill>
            <a:srgbClr val="F4F6FD"/>
          </a:solidFill>
          <a:ln/>
        </p:spPr>
      </p:sp>
      <p:sp>
        <p:nvSpPr>
          <p:cNvPr id="4" name="Text 2"/>
          <p:cNvSpPr/>
          <p:nvPr/>
        </p:nvSpPr>
        <p:spPr>
          <a:xfrm>
            <a:off x="1143000" y="1828800"/>
            <a:ext cx="4206240" cy="457200"/>
          </a:xfrm>
          <a:prstGeom prst="rect">
            <a:avLst/>
          </a:prstGeom>
          <a:noFill/>
          <a:ln/>
        </p:spPr>
        <p:txBody>
          <a:bodyPr wrap="square" lIns="0" tIns="0" rIns="0" bIns="0" rtlCol="0" anchor="ctr"/>
          <a:lstStyle/>
          <a:p>
            <a:pPr indent="0" marL="0">
              <a:buNone/>
            </a:pPr>
            <a:r>
              <a:rPr lang="en-US" sz="1900" b="1" dirty="0">
                <a:solidFill>
                  <a:srgbClr val="2E9E5B"/>
                </a:solidFill>
                <a:latin typeface="Arial" pitchFamily="34" charset="0"/>
                <a:ea typeface="Arial" pitchFamily="34" charset="-122"/>
                <a:cs typeface="Arial" pitchFamily="34" charset="-120"/>
              </a:rPr>
              <a:t>Fertig</a:t>
            </a:r>
            <a:endParaRPr lang="en-US" sz="1900" dirty="0"/>
          </a:p>
        </p:txBody>
      </p:sp>
      <p:sp>
        <p:nvSpPr>
          <p:cNvPr id="5" name="Text 3"/>
          <p:cNvSpPr/>
          <p:nvPr/>
        </p:nvSpPr>
        <p:spPr>
          <a:xfrm>
            <a:off x="1143000" y="2377440"/>
            <a:ext cx="4480560" cy="2926080"/>
          </a:xfrm>
          <a:prstGeom prst="rect">
            <a:avLst/>
          </a:prstGeom>
          <a:noFill/>
          <a:ln/>
        </p:spPr>
        <p:txBody>
          <a:bodyPr wrap="square" lIns="0" tIns="0" rIns="0" bIns="0" rtlCol="0" anchor="ctr"/>
          <a:lstStyle/>
          <a:p>
            <a:pPr indent="0" marL="0">
              <a:spcAft>
                <a:spcPts val="1200"/>
              </a:spcAft>
              <a:buNone/>
            </a:pPr>
            <a:r>
              <a:rPr lang="en-US" sz="1450" dirty="0">
                <a:solidFill>
                  <a:srgbClr val="222838"/>
                </a:solidFill>
                <a:latin typeface="Arial" pitchFamily="34" charset="0"/>
                <a:ea typeface="Arial" pitchFamily="34" charset="-122"/>
                <a:cs typeface="Arial" pitchFamily="34" charset="-120"/>
              </a:rPr>
              <a:t>✓  Backend mit 10 grünen Tests</a:t>
            </a:r>
            <a:endParaRPr lang="en-US" sz="1450" dirty="0"/>
          </a:p>
          <a:p>
            <a:pPr indent="0" marL="0">
              <a:spcAft>
                <a:spcPts val="1200"/>
              </a:spcAft>
              <a:buNone/>
            </a:pPr>
            <a:r>
              <a:rPr lang="en-US" sz="1450" dirty="0">
                <a:solidFill>
                  <a:srgbClr val="222838"/>
                </a:solidFill>
                <a:latin typeface="Arial" pitchFamily="34" charset="0"/>
                <a:ea typeface="Arial" pitchFamily="34" charset="-122"/>
                <a:cs typeface="Arial" pitchFamily="34" charset="-120"/>
              </a:rPr>
              <a:t>✓  React-Frontend, live ans Backend angebunden</a:t>
            </a:r>
            <a:endParaRPr lang="en-US" sz="1450" dirty="0"/>
          </a:p>
          <a:p>
            <a:pPr indent="0" marL="0">
              <a:spcAft>
                <a:spcPts val="1200"/>
              </a:spcAft>
              <a:buNone/>
            </a:pPr>
            <a:r>
              <a:rPr lang="en-US" sz="1450" dirty="0">
                <a:solidFill>
                  <a:srgbClr val="222838"/>
                </a:solidFill>
                <a:latin typeface="Arial" pitchFamily="34" charset="0"/>
                <a:ea typeface="Arial" pitchFamily="34" charset="-122"/>
                <a:cs typeface="Arial" pitchFamily="34" charset="-120"/>
              </a:rPr>
              <a:t>✓  Docker Multi-Stage + Compose-Stack</a:t>
            </a:r>
            <a:endParaRPr lang="en-US" sz="1450" dirty="0"/>
          </a:p>
          <a:p>
            <a:pPr indent="0" marL="0">
              <a:spcAft>
                <a:spcPts val="1200"/>
              </a:spcAft>
              <a:buNone/>
            </a:pPr>
            <a:r>
              <a:rPr lang="en-US" sz="1450" dirty="0">
                <a:solidFill>
                  <a:srgbClr val="222838"/>
                </a:solidFill>
                <a:latin typeface="Arial" pitchFamily="34" charset="0"/>
                <a:ea typeface="Arial" pitchFamily="34" charset="-122"/>
                <a:cs typeface="Arial" pitchFamily="34" charset="-120"/>
              </a:rPr>
              <a:t>✓  GitHub-Repo mit laufender Test-Pipeline</a:t>
            </a:r>
            <a:endParaRPr lang="en-US" sz="1450" dirty="0"/>
          </a:p>
        </p:txBody>
      </p:sp>
      <p:sp>
        <p:nvSpPr>
          <p:cNvPr id="6" name="Shape 4"/>
          <p:cNvSpPr/>
          <p:nvPr/>
        </p:nvSpPr>
        <p:spPr>
          <a:xfrm>
            <a:off x="6263640" y="1600200"/>
            <a:ext cx="5120640" cy="4023360"/>
          </a:xfrm>
          <a:prstGeom prst="roundRect">
            <a:avLst>
              <a:gd name="adj" fmla="val 2727"/>
            </a:avLst>
          </a:prstGeom>
          <a:solidFill>
            <a:srgbClr val="1E2761"/>
          </a:solidFill>
          <a:ln/>
        </p:spPr>
      </p:sp>
      <p:sp>
        <p:nvSpPr>
          <p:cNvPr id="7" name="Text 5"/>
          <p:cNvSpPr/>
          <p:nvPr/>
        </p:nvSpPr>
        <p:spPr>
          <a:xfrm>
            <a:off x="6629400" y="1828800"/>
            <a:ext cx="4206240" cy="457200"/>
          </a:xfrm>
          <a:prstGeom prst="rect">
            <a:avLst/>
          </a:prstGeom>
          <a:noFill/>
          <a:ln/>
        </p:spPr>
        <p:txBody>
          <a:bodyPr wrap="square" lIns="0" tIns="0" rIns="0" bIns="0" rtlCol="0" anchor="ctr"/>
          <a:lstStyle/>
          <a:p>
            <a:pPr indent="0" marL="0">
              <a:buNone/>
            </a:pPr>
            <a:r>
              <a:rPr lang="en-US" sz="1900" b="1" dirty="0">
                <a:solidFill>
                  <a:srgbClr val="CADCFC"/>
                </a:solidFill>
                <a:latin typeface="Arial" pitchFamily="34" charset="0"/>
                <a:ea typeface="Arial" pitchFamily="34" charset="-122"/>
                <a:cs typeface="Arial" pitchFamily="34" charset="-120"/>
              </a:rPr>
              <a:t>Als Nächstes</a:t>
            </a:r>
            <a:endParaRPr lang="en-US" sz="1900" dirty="0"/>
          </a:p>
        </p:txBody>
      </p:sp>
      <p:sp>
        <p:nvSpPr>
          <p:cNvPr id="8" name="Text 6"/>
          <p:cNvSpPr/>
          <p:nvPr/>
        </p:nvSpPr>
        <p:spPr>
          <a:xfrm>
            <a:off x="6629400" y="2377440"/>
            <a:ext cx="4480560" cy="2926080"/>
          </a:xfrm>
          <a:prstGeom prst="rect">
            <a:avLst/>
          </a:prstGeom>
          <a:noFill/>
          <a:ln/>
        </p:spPr>
        <p:txBody>
          <a:bodyPr wrap="square" lIns="0" tIns="0" rIns="0" bIns="0" rtlCol="0" anchor="ctr"/>
          <a:lstStyle/>
          <a:p>
            <a:pPr indent="0" marL="0">
              <a:spcAft>
                <a:spcPts val="1200"/>
              </a:spcAft>
              <a:buNone/>
            </a:pPr>
            <a:r>
              <a:rPr lang="en-US" sz="1450" dirty="0">
                <a:solidFill>
                  <a:srgbClr val="FFFFFF"/>
                </a:solidFill>
                <a:latin typeface="Arial" pitchFamily="34" charset="0"/>
                <a:ea typeface="Arial" pitchFamily="34" charset="-122"/>
                <a:cs typeface="Arial" pitchFamily="34" charset="-120"/>
              </a:rPr>
              <a:t>→  Terraform apply: Staging-EC2 live schalten</a:t>
            </a:r>
            <a:endParaRPr lang="en-US" sz="1450" dirty="0"/>
          </a:p>
          <a:p>
            <a:pPr indent="0" marL="0">
              <a:spcAft>
                <a:spcPts val="1200"/>
              </a:spcAft>
              <a:buNone/>
            </a:pPr>
            <a:r>
              <a:rPr lang="en-US" sz="1450" dirty="0">
                <a:solidFill>
                  <a:srgbClr val="FFFFFF"/>
                </a:solidFill>
                <a:latin typeface="Arial" pitchFamily="34" charset="0"/>
                <a:ea typeface="Arial" pitchFamily="34" charset="-122"/>
                <a:cs typeface="Arial" pitchFamily="34" charset="-120"/>
              </a:rPr>
              <a:t>→  Deploy-Job: echtes Docker-Deployment per SSH</a:t>
            </a:r>
            <a:endParaRPr lang="en-US" sz="1450" dirty="0"/>
          </a:p>
          <a:p>
            <a:pPr indent="0" marL="0">
              <a:spcAft>
                <a:spcPts val="1200"/>
              </a:spcAft>
              <a:buNone/>
            </a:pPr>
            <a:r>
              <a:rPr lang="en-US" sz="1450" dirty="0">
                <a:solidFill>
                  <a:srgbClr val="FFFFFF"/>
                </a:solidFill>
                <a:latin typeface="Arial" pitchFamily="34" charset="0"/>
                <a:ea typeface="Arial" pitchFamily="34" charset="-122"/>
                <a:cs typeface="Arial" pitchFamily="34" charset="-120"/>
              </a:rPr>
              <a:t>→  Production-Pipeline über Versions-Tags + Slack</a:t>
            </a:r>
            <a:endParaRPr lang="en-US" sz="1450" dirty="0"/>
          </a:p>
          <a:p>
            <a:pPr indent="0" marL="0">
              <a:spcAft>
                <a:spcPts val="1200"/>
              </a:spcAft>
              <a:buNone/>
            </a:pPr>
            <a:r>
              <a:rPr lang="en-US" sz="1450" dirty="0">
                <a:solidFill>
                  <a:srgbClr val="FFFFFF"/>
                </a:solidFill>
                <a:latin typeface="Arial" pitchFamily="34" charset="0"/>
                <a:ea typeface="Arial" pitchFamily="34" charset="-122"/>
                <a:cs typeface="Arial" pitchFamily="34" charset="-120"/>
              </a:rPr>
              <a:t>→  Doku, Architektur-Diagramm, Kostenkapitel</a:t>
            </a:r>
            <a:endParaRPr lang="en-US" sz="1450" dirty="0"/>
          </a:p>
        </p:txBody>
      </p:sp>
      <p:sp>
        <p:nvSpPr>
          <p:cNvPr id="9" name="Text 7"/>
          <p:cNvSpPr/>
          <p:nvPr/>
        </p:nvSpPr>
        <p:spPr>
          <a:xfrm>
            <a:off x="777240" y="5897880"/>
            <a:ext cx="10607040" cy="457200"/>
          </a:xfrm>
          <a:prstGeom prst="rect">
            <a:avLst/>
          </a:prstGeom>
          <a:noFill/>
          <a:ln/>
        </p:spPr>
        <p:txBody>
          <a:bodyPr wrap="square" lIns="0" tIns="0" rIns="0" bIns="0" rtlCol="0" anchor="ctr"/>
          <a:lstStyle/>
          <a:p>
            <a:pPr indent="0" marL="0">
              <a:buNone/>
            </a:pPr>
            <a:r>
              <a:rPr lang="en-US" sz="1500" dirty="0">
                <a:solidFill>
                  <a:srgbClr val="4F6DF5"/>
                </a:solidFill>
                <a:latin typeface="Arial" pitchFamily="34" charset="0"/>
                <a:ea typeface="Arial" pitchFamily="34" charset="-122"/>
                <a:cs typeface="Arial" pitchFamily="34" charset="-120"/>
              </a:rPr>
              <a:t>Alles nachvollziehbar auf GitHub: github.com/danialahmed2207/cloudops-capstone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509760" y="-2011680"/>
            <a:ext cx="5486400" cy="5486400"/>
          </a:xfrm>
          <a:prstGeom prst="ellipse">
            <a:avLst/>
          </a:prstGeom>
          <a:solidFill>
            <a:srgbClr val="27306E"/>
          </a:solidFill>
          <a:ln/>
        </p:spPr>
      </p:sp>
      <p:sp>
        <p:nvSpPr>
          <p:cNvPr id="3" name="Shape 1"/>
          <p:cNvSpPr/>
          <p:nvPr/>
        </p:nvSpPr>
        <p:spPr>
          <a:xfrm>
            <a:off x="-1645920" y="4754880"/>
            <a:ext cx="4114800" cy="4114800"/>
          </a:xfrm>
          <a:prstGeom prst="ellipse">
            <a:avLst/>
          </a:prstGeom>
          <a:solidFill>
            <a:srgbClr val="27306E"/>
          </a:solidFill>
          <a:ln/>
        </p:spPr>
      </p:sp>
      <p:sp>
        <p:nvSpPr>
          <p:cNvPr id="4" name="Text 2"/>
          <p:cNvSpPr/>
          <p:nvPr/>
        </p:nvSpPr>
        <p:spPr>
          <a:xfrm>
            <a:off x="777240" y="22860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Vielen Dank!</a:t>
            </a:r>
            <a:endParaRPr lang="en-US" sz="5400" dirty="0"/>
          </a:p>
        </p:txBody>
      </p:sp>
      <p:sp>
        <p:nvSpPr>
          <p:cNvPr id="5" name="Text 3"/>
          <p:cNvSpPr/>
          <p:nvPr/>
        </p:nvSpPr>
        <p:spPr>
          <a:xfrm>
            <a:off x="777240" y="3429000"/>
            <a:ext cx="9144000" cy="640080"/>
          </a:xfrm>
          <a:prstGeom prst="rect">
            <a:avLst/>
          </a:prstGeom>
          <a:noFill/>
          <a:ln/>
        </p:spPr>
        <p:txBody>
          <a:bodyPr wrap="square" lIns="0" tIns="0" rIns="0" bIns="0" rtlCol="0" anchor="ctr"/>
          <a:lstStyle/>
          <a:p>
            <a:pPr indent="0" marL="0">
              <a:buNone/>
            </a:pPr>
            <a:r>
              <a:rPr lang="en-US" sz="2200" dirty="0">
                <a:solidFill>
                  <a:srgbClr val="CADCFC"/>
                </a:solidFill>
                <a:latin typeface="Arial" pitchFamily="34" charset="0"/>
                <a:ea typeface="Arial" pitchFamily="34" charset="-122"/>
                <a:cs typeface="Arial" pitchFamily="34" charset="-120"/>
              </a:rPr>
              <a:t>Fragen? Ich zeige gern die Pipeline live.</a:t>
            </a:r>
            <a:endParaRPr lang="en-US" sz="2200" dirty="0"/>
          </a:p>
        </p:txBody>
      </p:sp>
      <p:sp>
        <p:nvSpPr>
          <p:cNvPr id="6" name="Text 4"/>
          <p:cNvSpPr/>
          <p:nvPr/>
        </p:nvSpPr>
        <p:spPr>
          <a:xfrm>
            <a:off x="777240" y="5806440"/>
            <a:ext cx="100584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github.com/danialahmed2207/cloudops-capstone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2026-07-16T21:16:54Z</dcterms:created>
  <dcterms:modified xsi:type="dcterms:W3CDTF">2026-07-16T21:16:54Z</dcterms:modified>
</cp:coreProperties>
</file>